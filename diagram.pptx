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234" autoAdjust="0"/>
    <p:restoredTop sz="94660"/>
  </p:normalViewPr>
  <p:slideViewPr>
    <p:cSldViewPr snapToGrid="0">
      <p:cViewPr varScale="1">
        <p:scale>
          <a:sx n="98" d="100"/>
          <a:sy n="98" d="100"/>
        </p:scale>
        <p:origin x="992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78869-E7FE-43D7-AE61-CE609612467D}" type="datetimeFigureOut">
              <a:rPr kumimoji="1" lang="ja-JP" altLang="en-US" smtClean="0"/>
              <a:t>2017/5/13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261CA-18EB-493F-85D1-701ECFA85B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1091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78869-E7FE-43D7-AE61-CE609612467D}" type="datetimeFigureOut">
              <a:rPr kumimoji="1" lang="ja-JP" altLang="en-US" smtClean="0"/>
              <a:t>2017/5/13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261CA-18EB-493F-85D1-701ECFA85B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3680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78869-E7FE-43D7-AE61-CE609612467D}" type="datetimeFigureOut">
              <a:rPr kumimoji="1" lang="ja-JP" altLang="en-US" smtClean="0"/>
              <a:t>2017/5/13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261CA-18EB-493F-85D1-701ECFA85B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0237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78869-E7FE-43D7-AE61-CE609612467D}" type="datetimeFigureOut">
              <a:rPr kumimoji="1" lang="ja-JP" altLang="en-US" smtClean="0"/>
              <a:t>2017/5/13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261CA-18EB-493F-85D1-701ECFA85B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3683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78869-E7FE-43D7-AE61-CE609612467D}" type="datetimeFigureOut">
              <a:rPr kumimoji="1" lang="ja-JP" altLang="en-US" smtClean="0"/>
              <a:t>2017/5/13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261CA-18EB-493F-85D1-701ECFA85B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058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78869-E7FE-43D7-AE61-CE609612467D}" type="datetimeFigureOut">
              <a:rPr kumimoji="1" lang="ja-JP" altLang="en-US" smtClean="0"/>
              <a:t>2017/5/13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261CA-18EB-493F-85D1-701ECFA85B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8660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78869-E7FE-43D7-AE61-CE609612467D}" type="datetimeFigureOut">
              <a:rPr kumimoji="1" lang="ja-JP" altLang="en-US" smtClean="0"/>
              <a:t>2017/5/13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261CA-18EB-493F-85D1-701ECFA85B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7503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78869-E7FE-43D7-AE61-CE609612467D}" type="datetimeFigureOut">
              <a:rPr kumimoji="1" lang="ja-JP" altLang="en-US" smtClean="0"/>
              <a:t>2017/5/13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261CA-18EB-493F-85D1-701ECFA85B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7532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78869-E7FE-43D7-AE61-CE609612467D}" type="datetimeFigureOut">
              <a:rPr kumimoji="1" lang="ja-JP" altLang="en-US" smtClean="0"/>
              <a:t>2017/5/13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261CA-18EB-493F-85D1-701ECFA85B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8989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78869-E7FE-43D7-AE61-CE609612467D}" type="datetimeFigureOut">
              <a:rPr kumimoji="1" lang="ja-JP" altLang="en-US" smtClean="0"/>
              <a:t>2017/5/13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261CA-18EB-493F-85D1-701ECFA85B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1709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78869-E7FE-43D7-AE61-CE609612467D}" type="datetimeFigureOut">
              <a:rPr kumimoji="1" lang="ja-JP" altLang="en-US" smtClean="0"/>
              <a:t>2017/5/13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261CA-18EB-493F-85D1-701ECFA85B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2198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78869-E7FE-43D7-AE61-CE609612467D}" type="datetimeFigureOut">
              <a:rPr kumimoji="1" lang="ja-JP" altLang="en-US" smtClean="0"/>
              <a:t>2017/5/13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261CA-18EB-493F-85D1-701ECFA85B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57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emf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5" Type="http://schemas.openxmlformats.org/officeDocument/2006/relationships/image" Target="../media/image15.png"/><Relationship Id="rId10" Type="http://schemas.openxmlformats.org/officeDocument/2006/relationships/image" Target="../media/image12.png"/><Relationship Id="rId4" Type="http://schemas.openxmlformats.org/officeDocument/2006/relationships/image" Target="../media/image3.emf"/><Relationship Id="rId9" Type="http://schemas.openxmlformats.org/officeDocument/2006/relationships/image" Target="../media/image9.pn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構成図</a:t>
            </a:r>
            <a:r>
              <a:rPr kumimoji="1" lang="en-US" altLang="ja-JP" dirty="0"/>
              <a:t>(Simple)</a:t>
            </a:r>
            <a:endParaRPr kumimoji="1" lang="ja-JP" altLang="en-US" dirty="0"/>
          </a:p>
        </p:txBody>
      </p:sp>
      <p:sp>
        <p:nvSpPr>
          <p:cNvPr id="5" name="Rounded Rectangle 2"/>
          <p:cNvSpPr/>
          <p:nvPr/>
        </p:nvSpPr>
        <p:spPr>
          <a:xfrm>
            <a:off x="580709" y="1690688"/>
            <a:ext cx="11146146" cy="4853122"/>
          </a:xfrm>
          <a:prstGeom prst="roundRect">
            <a:avLst>
              <a:gd name="adj" fmla="val 9818"/>
            </a:avLst>
          </a:prstGeom>
          <a:noFill/>
          <a:ln w="635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" name="Rounded Rectangle 3"/>
          <p:cNvSpPr/>
          <p:nvPr/>
        </p:nvSpPr>
        <p:spPr>
          <a:xfrm>
            <a:off x="973666" y="1842381"/>
            <a:ext cx="9160541" cy="4571420"/>
          </a:xfrm>
          <a:prstGeom prst="roundRect">
            <a:avLst>
              <a:gd name="adj" fmla="val 9818"/>
            </a:avLst>
          </a:prstGeom>
          <a:noFill/>
          <a:ln w="635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9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81" y="2102909"/>
            <a:ext cx="599170" cy="391125"/>
          </a:xfrm>
          <a:prstGeom prst="rect">
            <a:avLst/>
          </a:prstGeom>
        </p:spPr>
      </p:pic>
      <p:pic>
        <p:nvPicPr>
          <p:cNvPr id="10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162" y="1538996"/>
            <a:ext cx="603504" cy="393954"/>
          </a:xfrm>
          <a:prstGeom prst="rect">
            <a:avLst/>
          </a:prstGeom>
        </p:spPr>
      </p:pic>
      <p:sp>
        <p:nvSpPr>
          <p:cNvPr id="13" name="Rounded Rectangle 21"/>
          <p:cNvSpPr/>
          <p:nvPr/>
        </p:nvSpPr>
        <p:spPr>
          <a:xfrm>
            <a:off x="1315082" y="2752419"/>
            <a:ext cx="4126061" cy="3497316"/>
          </a:xfrm>
          <a:prstGeom prst="roundRect">
            <a:avLst>
              <a:gd name="adj" fmla="val 9818"/>
            </a:avLst>
          </a:prstGeom>
          <a:noFill/>
          <a:ln w="635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b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tx1"/>
                </a:solidFill>
                <a:latin typeface="Helvetica Neue"/>
                <a:cs typeface="Helvetica Neue"/>
              </a:rPr>
              <a:t>Subnet</a:t>
            </a:r>
            <a:r>
              <a:rPr lang="en-US" altLang="ja-JP" sz="1200" dirty="0">
                <a:solidFill>
                  <a:schemeClr val="tx1"/>
                </a:solidFill>
                <a:latin typeface="Helvetica Neue"/>
                <a:cs typeface="Helvetica Neue"/>
              </a:rPr>
              <a:t> (10.0.10.0/24)</a:t>
            </a:r>
            <a:endParaRPr lang="en-US" sz="1200" dirty="0">
              <a:solidFill>
                <a:schemeClr val="tx1"/>
              </a:solidFill>
              <a:latin typeface="Helvetica Neue"/>
              <a:cs typeface="Helvetica Neue"/>
            </a:endParaRPr>
          </a:p>
        </p:txBody>
      </p:sp>
      <p:pic>
        <p:nvPicPr>
          <p:cNvPr id="14" name="Picture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4470" y="2635582"/>
            <a:ext cx="215900" cy="241300"/>
          </a:xfrm>
          <a:prstGeom prst="rect">
            <a:avLst/>
          </a:prstGeom>
        </p:spPr>
      </p:pic>
      <p:sp>
        <p:nvSpPr>
          <p:cNvPr id="15" name="Rounded Rectangle 21"/>
          <p:cNvSpPr/>
          <p:nvPr/>
        </p:nvSpPr>
        <p:spPr>
          <a:xfrm>
            <a:off x="5737558" y="2752419"/>
            <a:ext cx="4177678" cy="3497316"/>
          </a:xfrm>
          <a:prstGeom prst="roundRect">
            <a:avLst>
              <a:gd name="adj" fmla="val 9818"/>
            </a:avLst>
          </a:prstGeom>
          <a:noFill/>
          <a:ln w="635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b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tx1"/>
                </a:solidFill>
                <a:latin typeface="Helvetica Neue"/>
                <a:cs typeface="Helvetica Neue"/>
              </a:rPr>
              <a:t>Subnet</a:t>
            </a:r>
            <a:r>
              <a:rPr lang="en-US" altLang="ja-JP" sz="1200" dirty="0">
                <a:solidFill>
                  <a:schemeClr val="tx1"/>
                </a:solidFill>
                <a:latin typeface="Helvetica Neue"/>
                <a:cs typeface="Helvetica Neue"/>
              </a:rPr>
              <a:t> (10.0.11.0/24)</a:t>
            </a:r>
            <a:endParaRPr lang="en-US" sz="1200" dirty="0">
              <a:solidFill>
                <a:schemeClr val="tx1"/>
              </a:solidFill>
              <a:latin typeface="Helvetica Neue"/>
              <a:cs typeface="Helvetica Neue"/>
            </a:endParaRPr>
          </a:p>
        </p:txBody>
      </p:sp>
      <p:pic>
        <p:nvPicPr>
          <p:cNvPr id="16" name="Picture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3617" y="2635582"/>
            <a:ext cx="215900" cy="241300"/>
          </a:xfrm>
          <a:prstGeom prst="rect">
            <a:avLst/>
          </a:prstGeom>
        </p:spPr>
      </p:pic>
      <p:grpSp>
        <p:nvGrpSpPr>
          <p:cNvPr id="19" name="Group 21"/>
          <p:cNvGrpSpPr>
            <a:grpSpLocks/>
          </p:cNvGrpSpPr>
          <p:nvPr/>
        </p:nvGrpSpPr>
        <p:grpSpPr bwMode="auto">
          <a:xfrm>
            <a:off x="1756255" y="3060112"/>
            <a:ext cx="1471854" cy="1117525"/>
            <a:chOff x="545458" y="4783771"/>
            <a:chExt cx="2293787" cy="1733798"/>
          </a:xfrm>
        </p:grpSpPr>
        <p:sp>
          <p:nvSpPr>
            <p:cNvPr id="20" name="Rounded Rectangle 14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  <p:sp>
          <p:nvSpPr>
            <p:cNvPr id="21" name="Rounded Rectangle 15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rgbClr val="FF0000"/>
              </a:solidFill>
              <a:prstDash val="lg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</p:grpSp>
      <p:grpSp>
        <p:nvGrpSpPr>
          <p:cNvPr id="25" name="Group 21"/>
          <p:cNvGrpSpPr>
            <a:grpSpLocks/>
          </p:cNvGrpSpPr>
          <p:nvPr/>
        </p:nvGrpSpPr>
        <p:grpSpPr bwMode="auto">
          <a:xfrm>
            <a:off x="6164970" y="4465567"/>
            <a:ext cx="847043" cy="1188645"/>
            <a:chOff x="545458" y="4783771"/>
            <a:chExt cx="2293787" cy="1733798"/>
          </a:xfrm>
        </p:grpSpPr>
        <p:sp>
          <p:nvSpPr>
            <p:cNvPr id="26" name="Rounded Rectangle 14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  <p:sp>
          <p:nvSpPr>
            <p:cNvPr id="27" name="Rounded Rectangle 15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rgbClr val="FF0000"/>
              </a:solidFill>
              <a:prstDash val="lg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</p:grpSp>
      <p:pic>
        <p:nvPicPr>
          <p:cNvPr id="29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129" y="4643975"/>
            <a:ext cx="521366" cy="602829"/>
          </a:xfrm>
          <a:prstGeom prst="rect">
            <a:avLst/>
          </a:prstGeom>
        </p:spPr>
      </p:pic>
      <p:grpSp>
        <p:nvGrpSpPr>
          <p:cNvPr id="30" name="Group 21"/>
          <p:cNvGrpSpPr>
            <a:grpSpLocks/>
          </p:cNvGrpSpPr>
          <p:nvPr/>
        </p:nvGrpSpPr>
        <p:grpSpPr bwMode="auto">
          <a:xfrm>
            <a:off x="1756255" y="4465567"/>
            <a:ext cx="847043" cy="1188645"/>
            <a:chOff x="545458" y="4783771"/>
            <a:chExt cx="2293787" cy="1733798"/>
          </a:xfrm>
        </p:grpSpPr>
        <p:sp>
          <p:nvSpPr>
            <p:cNvPr id="31" name="Rounded Rectangle 14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  <p:sp>
          <p:nvSpPr>
            <p:cNvPr id="32" name="Rounded Rectangle 15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rgbClr val="FF0000"/>
              </a:solidFill>
              <a:prstDash val="lg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</p:grpSp>
      <p:pic>
        <p:nvPicPr>
          <p:cNvPr id="33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984" y="4643975"/>
            <a:ext cx="521366" cy="602829"/>
          </a:xfrm>
          <a:prstGeom prst="rect">
            <a:avLst/>
          </a:prstGeom>
        </p:spPr>
      </p:pic>
      <p:pic>
        <p:nvPicPr>
          <p:cNvPr id="34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61" y="5682546"/>
            <a:ext cx="503140" cy="521774"/>
          </a:xfrm>
          <a:prstGeom prst="rect">
            <a:avLst/>
          </a:prstGeom>
        </p:spPr>
      </p:pic>
      <p:pic>
        <p:nvPicPr>
          <p:cNvPr id="35" name="Picture 6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67" y="3269772"/>
            <a:ext cx="544781" cy="564959"/>
          </a:xfrm>
          <a:prstGeom prst="rect">
            <a:avLst/>
          </a:prstGeom>
        </p:spPr>
      </p:pic>
      <p:pic>
        <p:nvPicPr>
          <p:cNvPr id="36" name="Picture 7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912" y="4643975"/>
            <a:ext cx="494088" cy="512387"/>
          </a:xfrm>
          <a:prstGeom prst="rect">
            <a:avLst/>
          </a:prstGeom>
        </p:spPr>
      </p:pic>
      <p:grpSp>
        <p:nvGrpSpPr>
          <p:cNvPr id="37" name="Group 21"/>
          <p:cNvGrpSpPr>
            <a:grpSpLocks/>
          </p:cNvGrpSpPr>
          <p:nvPr/>
        </p:nvGrpSpPr>
        <p:grpSpPr bwMode="auto">
          <a:xfrm>
            <a:off x="4180914" y="4465567"/>
            <a:ext cx="847043" cy="1188645"/>
            <a:chOff x="545458" y="4783771"/>
            <a:chExt cx="2293787" cy="1733798"/>
          </a:xfrm>
        </p:grpSpPr>
        <p:sp>
          <p:nvSpPr>
            <p:cNvPr id="38" name="Rounded Rectangle 14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  <p:sp>
          <p:nvSpPr>
            <p:cNvPr id="39" name="Rounded Rectangle 15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rgbClr val="FF0000"/>
              </a:solidFill>
              <a:prstDash val="lg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</p:grpSp>
      <p:pic>
        <p:nvPicPr>
          <p:cNvPr id="40" name="Picture 7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2350" y="4643975"/>
            <a:ext cx="494088" cy="512387"/>
          </a:xfrm>
          <a:prstGeom prst="rect">
            <a:avLst/>
          </a:prstGeom>
        </p:spPr>
      </p:pic>
      <p:grpSp>
        <p:nvGrpSpPr>
          <p:cNvPr id="41" name="Group 21"/>
          <p:cNvGrpSpPr>
            <a:grpSpLocks/>
          </p:cNvGrpSpPr>
          <p:nvPr/>
        </p:nvGrpSpPr>
        <p:grpSpPr bwMode="auto">
          <a:xfrm>
            <a:off x="8728352" y="4465567"/>
            <a:ext cx="847043" cy="1188645"/>
            <a:chOff x="545458" y="4783771"/>
            <a:chExt cx="2293787" cy="1733798"/>
          </a:xfrm>
        </p:grpSpPr>
        <p:sp>
          <p:nvSpPr>
            <p:cNvPr id="42" name="Rounded Rectangle 14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  <p:sp>
          <p:nvSpPr>
            <p:cNvPr id="43" name="Rounded Rectangle 15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rgbClr val="FF0000"/>
              </a:solidFill>
              <a:prstDash val="lg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</p:grpSp>
      <p:sp>
        <p:nvSpPr>
          <p:cNvPr id="44" name="テキスト ボックス 43"/>
          <p:cNvSpPr txBox="1"/>
          <p:nvPr/>
        </p:nvSpPr>
        <p:spPr>
          <a:xfrm>
            <a:off x="1748684" y="3891981"/>
            <a:ext cx="1481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>
                <a:latin typeface="Arial" panose="020B0604020202020204" pitchFamily="34" charset="0"/>
                <a:cs typeface="Arial" panose="020B0604020202020204" pitchFamily="34" charset="0"/>
              </a:rPr>
              <a:t>Mastodon</a:t>
            </a:r>
            <a:r>
              <a:rPr kumimoji="1" lang="ja-JP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ja-JP" sz="1200" dirty="0">
                <a:latin typeface="Arial" panose="020B0604020202020204" pitchFamily="34" charset="0"/>
                <a:cs typeface="Arial" panose="020B0604020202020204" pitchFamily="34" charset="0"/>
              </a:rPr>
              <a:t>Instance</a:t>
            </a:r>
            <a:endParaRPr kumimoji="1"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テキスト ボックス 45"/>
          <p:cNvSpPr txBox="1"/>
          <p:nvPr/>
        </p:nvSpPr>
        <p:spPr>
          <a:xfrm>
            <a:off x="1721024" y="5261813"/>
            <a:ext cx="909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 err="1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endParaRPr kumimoji="1"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6133360" y="5261813"/>
            <a:ext cx="909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 err="1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endParaRPr kumimoji="1"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テキスト ボックス 47"/>
          <p:cNvSpPr txBox="1"/>
          <p:nvPr/>
        </p:nvSpPr>
        <p:spPr>
          <a:xfrm>
            <a:off x="4318056" y="5261813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endParaRPr kumimoji="1"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テキスト ボックス 48"/>
          <p:cNvSpPr txBox="1"/>
          <p:nvPr/>
        </p:nvSpPr>
        <p:spPr>
          <a:xfrm>
            <a:off x="8892294" y="5261813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endParaRPr kumimoji="1"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テキスト ボックス 50"/>
          <p:cNvSpPr txBox="1"/>
          <p:nvPr/>
        </p:nvSpPr>
        <p:spPr>
          <a:xfrm>
            <a:off x="10318077" y="6176944"/>
            <a:ext cx="12186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>
                <a:latin typeface="Arial" panose="020B0604020202020204" pitchFamily="34" charset="0"/>
                <a:cs typeface="Arial" panose="020B0604020202020204" pitchFamily="34" charset="0"/>
              </a:rPr>
              <a:t>S3 for contents</a:t>
            </a:r>
            <a:endParaRPr kumimoji="1"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3" name="Picture 6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6112" y="1576949"/>
            <a:ext cx="538196" cy="564237"/>
          </a:xfrm>
          <a:prstGeom prst="rect">
            <a:avLst/>
          </a:prstGeom>
        </p:spPr>
      </p:pic>
      <p:sp>
        <p:nvSpPr>
          <p:cNvPr id="55" name="テキスト ボックス 54"/>
          <p:cNvSpPr txBox="1"/>
          <p:nvPr/>
        </p:nvSpPr>
        <p:spPr>
          <a:xfrm>
            <a:off x="5445479" y="2089573"/>
            <a:ext cx="13548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>
                <a:latin typeface="Arial" panose="020B0604020202020204" pitchFamily="34" charset="0"/>
                <a:cs typeface="Arial" panose="020B0604020202020204" pitchFamily="34" charset="0"/>
              </a:rPr>
              <a:t>Internet Gateway</a:t>
            </a:r>
            <a:endParaRPr kumimoji="1"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6" name="Picture 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8484" y="859853"/>
            <a:ext cx="709267" cy="701253"/>
          </a:xfrm>
          <a:prstGeom prst="rect">
            <a:avLst/>
          </a:prstGeom>
        </p:spPr>
      </p:pic>
      <p:sp>
        <p:nvSpPr>
          <p:cNvPr id="45" name="Rounded Rectangle 6"/>
          <p:cNvSpPr/>
          <p:nvPr/>
        </p:nvSpPr>
        <p:spPr>
          <a:xfrm>
            <a:off x="5826965" y="2803870"/>
            <a:ext cx="4030207" cy="3401073"/>
          </a:xfrm>
          <a:prstGeom prst="roundRect">
            <a:avLst>
              <a:gd name="adj" fmla="val 9818"/>
            </a:avLst>
          </a:prstGeom>
          <a:noFill/>
          <a:ln w="19050">
            <a:solidFill>
              <a:srgbClr val="F7981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  <a:latin typeface="Helvetica Neue"/>
              <a:cs typeface="Helvetica Neue"/>
            </a:endParaRPr>
          </a:p>
        </p:txBody>
      </p:sp>
      <p:sp>
        <p:nvSpPr>
          <p:cNvPr id="50" name="Rounded Rectangle 6"/>
          <p:cNvSpPr/>
          <p:nvPr/>
        </p:nvSpPr>
        <p:spPr>
          <a:xfrm>
            <a:off x="1367889" y="2803871"/>
            <a:ext cx="4022053" cy="3401794"/>
          </a:xfrm>
          <a:prstGeom prst="roundRect">
            <a:avLst>
              <a:gd name="adj" fmla="val 9818"/>
            </a:avLst>
          </a:prstGeom>
          <a:noFill/>
          <a:ln w="19050">
            <a:solidFill>
              <a:srgbClr val="F7981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  <a:latin typeface="Helvetica Neue"/>
              <a:cs typeface="Helvetica Neue"/>
            </a:endParaRPr>
          </a:p>
        </p:txBody>
      </p:sp>
      <p:pic>
        <p:nvPicPr>
          <p:cNvPr id="57" name="Picture 11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944" y="1914981"/>
            <a:ext cx="536134" cy="496713"/>
          </a:xfrm>
          <a:prstGeom prst="rect">
            <a:avLst/>
          </a:prstGeom>
        </p:spPr>
      </p:pic>
      <p:sp>
        <p:nvSpPr>
          <p:cNvPr id="58" name="テキスト ボックス 57"/>
          <p:cNvSpPr txBox="1"/>
          <p:nvPr/>
        </p:nvSpPr>
        <p:spPr>
          <a:xfrm>
            <a:off x="1829848" y="2427605"/>
            <a:ext cx="13590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>
                <a:latin typeface="Arial" panose="020B0604020202020204" pitchFamily="34" charset="0"/>
                <a:cs typeface="Arial" panose="020B0604020202020204" pitchFamily="34" charset="0"/>
              </a:rPr>
              <a:t>VPC Route Table</a:t>
            </a:r>
            <a:endParaRPr kumimoji="1"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9" name="Picture 5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453" y="1910652"/>
            <a:ext cx="538195" cy="564237"/>
          </a:xfrm>
          <a:prstGeom prst="rect">
            <a:avLst/>
          </a:prstGeom>
        </p:spPr>
      </p:pic>
      <p:sp>
        <p:nvSpPr>
          <p:cNvPr id="60" name="テキスト ボックス 59"/>
          <p:cNvSpPr txBox="1"/>
          <p:nvPr/>
        </p:nvSpPr>
        <p:spPr>
          <a:xfrm>
            <a:off x="8981831" y="2423276"/>
            <a:ext cx="11480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>
                <a:latin typeface="Arial" panose="020B0604020202020204" pitchFamily="34" charset="0"/>
                <a:cs typeface="Arial" panose="020B0604020202020204" pitchFamily="34" charset="0"/>
              </a:rPr>
              <a:t>VPC Endpoint</a:t>
            </a:r>
            <a:endParaRPr kumimoji="1"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1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61" y="4621525"/>
            <a:ext cx="503140" cy="521774"/>
          </a:xfrm>
          <a:prstGeom prst="rect">
            <a:avLst/>
          </a:prstGeom>
        </p:spPr>
      </p:pic>
      <p:sp>
        <p:nvSpPr>
          <p:cNvPr id="62" name="テキスト ボックス 61"/>
          <p:cNvSpPr txBox="1"/>
          <p:nvPr/>
        </p:nvSpPr>
        <p:spPr>
          <a:xfrm>
            <a:off x="10241938" y="5115923"/>
            <a:ext cx="13708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>
                <a:latin typeface="Arial" panose="020B0604020202020204" pitchFamily="34" charset="0"/>
                <a:cs typeface="Arial" panose="020B0604020202020204" pitchFamily="34" charset="0"/>
              </a:rPr>
              <a:t>S3 for </a:t>
            </a:r>
          </a:p>
          <a:p>
            <a:pPr algn="ctr"/>
            <a:r>
              <a:rPr kumimoji="1" lang="en-US" altLang="ja-JP" sz="1200" dirty="0">
                <a:latin typeface="Arial" panose="020B0604020202020204" pitchFamily="34" charset="0"/>
                <a:cs typeface="Arial" panose="020B0604020202020204" pitchFamily="34" charset="0"/>
              </a:rPr>
              <a:t>Server Certificate</a:t>
            </a:r>
            <a:endParaRPr kumimoji="1"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748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構成図</a:t>
            </a:r>
            <a:r>
              <a:rPr kumimoji="1" lang="en-US" altLang="ja-JP" dirty="0"/>
              <a:t>(AS-ALB)</a:t>
            </a:r>
            <a:endParaRPr kumimoji="1" lang="ja-JP" altLang="en-US" dirty="0"/>
          </a:p>
        </p:txBody>
      </p:sp>
      <p:sp>
        <p:nvSpPr>
          <p:cNvPr id="5" name="Rounded Rectangle 2"/>
          <p:cNvSpPr/>
          <p:nvPr/>
        </p:nvSpPr>
        <p:spPr>
          <a:xfrm>
            <a:off x="736720" y="1690688"/>
            <a:ext cx="10990135" cy="4853122"/>
          </a:xfrm>
          <a:prstGeom prst="roundRect">
            <a:avLst>
              <a:gd name="adj" fmla="val 9818"/>
            </a:avLst>
          </a:prstGeom>
          <a:noFill/>
          <a:ln w="635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" name="Rounded Rectangle 3"/>
          <p:cNvSpPr/>
          <p:nvPr/>
        </p:nvSpPr>
        <p:spPr>
          <a:xfrm>
            <a:off x="1157084" y="1842381"/>
            <a:ext cx="8977123" cy="4571420"/>
          </a:xfrm>
          <a:prstGeom prst="roundRect">
            <a:avLst>
              <a:gd name="adj" fmla="val 9818"/>
            </a:avLst>
          </a:prstGeom>
          <a:noFill/>
          <a:ln w="635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9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214" y="2005566"/>
            <a:ext cx="599170" cy="391125"/>
          </a:xfrm>
          <a:prstGeom prst="rect">
            <a:avLst/>
          </a:prstGeom>
        </p:spPr>
      </p:pic>
      <p:pic>
        <p:nvPicPr>
          <p:cNvPr id="10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181" y="1538996"/>
            <a:ext cx="603504" cy="393954"/>
          </a:xfrm>
          <a:prstGeom prst="rect">
            <a:avLst/>
          </a:prstGeom>
        </p:spPr>
      </p:pic>
      <p:sp>
        <p:nvSpPr>
          <p:cNvPr id="11" name="Rounded Rectangle 21"/>
          <p:cNvSpPr/>
          <p:nvPr/>
        </p:nvSpPr>
        <p:spPr>
          <a:xfrm>
            <a:off x="1315082" y="2702600"/>
            <a:ext cx="4126061" cy="1620018"/>
          </a:xfrm>
          <a:prstGeom prst="roundRect">
            <a:avLst>
              <a:gd name="adj" fmla="val 9818"/>
            </a:avLst>
          </a:prstGeom>
          <a:noFill/>
          <a:ln w="635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b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tx1"/>
                </a:solidFill>
                <a:latin typeface="Helvetica Neue"/>
                <a:cs typeface="Helvetica Neue"/>
              </a:rPr>
              <a:t>Public Subnet (10.0.20.0/24)</a:t>
            </a:r>
          </a:p>
        </p:txBody>
      </p:sp>
      <p:pic>
        <p:nvPicPr>
          <p:cNvPr id="12" name="Picture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4470" y="2540208"/>
            <a:ext cx="215900" cy="241300"/>
          </a:xfrm>
          <a:prstGeom prst="rect">
            <a:avLst/>
          </a:prstGeom>
        </p:spPr>
      </p:pic>
      <p:sp>
        <p:nvSpPr>
          <p:cNvPr id="13" name="Rounded Rectangle 21"/>
          <p:cNvSpPr/>
          <p:nvPr/>
        </p:nvSpPr>
        <p:spPr>
          <a:xfrm>
            <a:off x="1315082" y="4543311"/>
            <a:ext cx="4126061" cy="1706424"/>
          </a:xfrm>
          <a:prstGeom prst="roundRect">
            <a:avLst>
              <a:gd name="adj" fmla="val 9818"/>
            </a:avLst>
          </a:prstGeom>
          <a:noFill/>
          <a:ln w="635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b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tx1"/>
                </a:solidFill>
                <a:latin typeface="Helvetica Neue"/>
                <a:cs typeface="Helvetica Neue"/>
              </a:rPr>
              <a:t>Private Subnet </a:t>
            </a:r>
            <a:r>
              <a:rPr lang="en-US" altLang="ja-JP" sz="1200" dirty="0">
                <a:solidFill>
                  <a:schemeClr val="tx1"/>
                </a:solidFill>
                <a:latin typeface="Helvetica Neue"/>
                <a:cs typeface="Helvetica Neue"/>
              </a:rPr>
              <a:t>(10.0.10.0/24)</a:t>
            </a:r>
            <a:endParaRPr lang="en-US" sz="1200" dirty="0">
              <a:solidFill>
                <a:schemeClr val="tx1"/>
              </a:solidFill>
              <a:latin typeface="Helvetica Neue"/>
              <a:cs typeface="Helvetica Neue"/>
            </a:endParaRPr>
          </a:p>
        </p:txBody>
      </p:sp>
      <p:pic>
        <p:nvPicPr>
          <p:cNvPr id="14" name="Picture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4470" y="4451386"/>
            <a:ext cx="215900" cy="241300"/>
          </a:xfrm>
          <a:prstGeom prst="rect">
            <a:avLst/>
          </a:prstGeom>
        </p:spPr>
      </p:pic>
      <p:sp>
        <p:nvSpPr>
          <p:cNvPr id="15" name="Rounded Rectangle 21"/>
          <p:cNvSpPr/>
          <p:nvPr/>
        </p:nvSpPr>
        <p:spPr>
          <a:xfrm>
            <a:off x="5737558" y="4543311"/>
            <a:ext cx="4177678" cy="1706424"/>
          </a:xfrm>
          <a:prstGeom prst="roundRect">
            <a:avLst>
              <a:gd name="adj" fmla="val 9818"/>
            </a:avLst>
          </a:prstGeom>
          <a:noFill/>
          <a:ln w="635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b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tx1"/>
                </a:solidFill>
                <a:latin typeface="Helvetica Neue"/>
                <a:cs typeface="Helvetica Neue"/>
              </a:rPr>
              <a:t>Private Subnet </a:t>
            </a:r>
            <a:r>
              <a:rPr lang="en-US" altLang="ja-JP" sz="1200" dirty="0">
                <a:solidFill>
                  <a:schemeClr val="tx1"/>
                </a:solidFill>
                <a:latin typeface="Helvetica Neue"/>
                <a:cs typeface="Helvetica Neue"/>
              </a:rPr>
              <a:t>(10.0.11.0/24)</a:t>
            </a:r>
            <a:endParaRPr lang="en-US" sz="1200" dirty="0">
              <a:solidFill>
                <a:schemeClr val="tx1"/>
              </a:solidFill>
              <a:latin typeface="Helvetica Neue"/>
              <a:cs typeface="Helvetica Neue"/>
            </a:endParaRPr>
          </a:p>
        </p:txBody>
      </p:sp>
      <p:pic>
        <p:nvPicPr>
          <p:cNvPr id="16" name="Picture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3617" y="4451386"/>
            <a:ext cx="215900" cy="241300"/>
          </a:xfrm>
          <a:prstGeom prst="rect">
            <a:avLst/>
          </a:prstGeom>
        </p:spPr>
      </p:pic>
      <p:grpSp>
        <p:nvGrpSpPr>
          <p:cNvPr id="19" name="Group 21"/>
          <p:cNvGrpSpPr>
            <a:grpSpLocks/>
          </p:cNvGrpSpPr>
          <p:nvPr/>
        </p:nvGrpSpPr>
        <p:grpSpPr bwMode="auto">
          <a:xfrm>
            <a:off x="2593851" y="4842040"/>
            <a:ext cx="1471854" cy="1093348"/>
            <a:chOff x="545458" y="4783771"/>
            <a:chExt cx="2293787" cy="1733798"/>
          </a:xfrm>
        </p:grpSpPr>
        <p:sp>
          <p:nvSpPr>
            <p:cNvPr id="20" name="Rounded Rectangle 14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  <p:sp>
          <p:nvSpPr>
            <p:cNvPr id="21" name="Rounded Rectangle 15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rgbClr val="FF0000"/>
              </a:solidFill>
              <a:prstDash val="lg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</p:grpSp>
      <p:grpSp>
        <p:nvGrpSpPr>
          <p:cNvPr id="25" name="Group 21"/>
          <p:cNvGrpSpPr>
            <a:grpSpLocks/>
          </p:cNvGrpSpPr>
          <p:nvPr/>
        </p:nvGrpSpPr>
        <p:grpSpPr bwMode="auto">
          <a:xfrm>
            <a:off x="5913617" y="4842041"/>
            <a:ext cx="847043" cy="1093348"/>
            <a:chOff x="545458" y="4783771"/>
            <a:chExt cx="2293787" cy="1733798"/>
          </a:xfrm>
        </p:grpSpPr>
        <p:sp>
          <p:nvSpPr>
            <p:cNvPr id="26" name="Rounded Rectangle 14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  <p:sp>
          <p:nvSpPr>
            <p:cNvPr id="27" name="Rounded Rectangle 15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rgbClr val="FF0000"/>
              </a:solidFill>
              <a:prstDash val="lg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</p:grpSp>
      <p:pic>
        <p:nvPicPr>
          <p:cNvPr id="29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6776" y="4984264"/>
            <a:ext cx="521366" cy="602829"/>
          </a:xfrm>
          <a:prstGeom prst="rect">
            <a:avLst/>
          </a:prstGeom>
        </p:spPr>
      </p:pic>
      <p:grpSp>
        <p:nvGrpSpPr>
          <p:cNvPr id="30" name="Group 21"/>
          <p:cNvGrpSpPr>
            <a:grpSpLocks/>
          </p:cNvGrpSpPr>
          <p:nvPr/>
        </p:nvGrpSpPr>
        <p:grpSpPr bwMode="auto">
          <a:xfrm>
            <a:off x="1494470" y="4842041"/>
            <a:ext cx="847043" cy="1093348"/>
            <a:chOff x="545458" y="4783771"/>
            <a:chExt cx="2293787" cy="1733798"/>
          </a:xfrm>
        </p:grpSpPr>
        <p:sp>
          <p:nvSpPr>
            <p:cNvPr id="31" name="Rounded Rectangle 14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  <p:sp>
          <p:nvSpPr>
            <p:cNvPr id="32" name="Rounded Rectangle 15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rgbClr val="FF0000"/>
              </a:solidFill>
              <a:prstDash val="lg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</p:grpSp>
      <p:pic>
        <p:nvPicPr>
          <p:cNvPr id="33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629" y="4984264"/>
            <a:ext cx="521366" cy="602829"/>
          </a:xfrm>
          <a:prstGeom prst="rect">
            <a:avLst/>
          </a:prstGeom>
        </p:spPr>
      </p:pic>
      <p:pic>
        <p:nvPicPr>
          <p:cNvPr id="34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61" y="5691217"/>
            <a:ext cx="503140" cy="521774"/>
          </a:xfrm>
          <a:prstGeom prst="rect">
            <a:avLst/>
          </a:prstGeom>
        </p:spPr>
      </p:pic>
      <p:pic>
        <p:nvPicPr>
          <p:cNvPr id="36" name="Picture 7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5595" y="4984264"/>
            <a:ext cx="494088" cy="512387"/>
          </a:xfrm>
          <a:prstGeom prst="rect">
            <a:avLst/>
          </a:prstGeom>
        </p:spPr>
      </p:pic>
      <p:grpSp>
        <p:nvGrpSpPr>
          <p:cNvPr id="37" name="Group 21"/>
          <p:cNvGrpSpPr>
            <a:grpSpLocks/>
          </p:cNvGrpSpPr>
          <p:nvPr/>
        </p:nvGrpSpPr>
        <p:grpSpPr bwMode="auto">
          <a:xfrm>
            <a:off x="4371597" y="4842041"/>
            <a:ext cx="847043" cy="1093348"/>
            <a:chOff x="545458" y="4783771"/>
            <a:chExt cx="2293787" cy="1733798"/>
          </a:xfrm>
        </p:grpSpPr>
        <p:sp>
          <p:nvSpPr>
            <p:cNvPr id="38" name="Rounded Rectangle 14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  <p:sp>
          <p:nvSpPr>
            <p:cNvPr id="39" name="Rounded Rectangle 15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rgbClr val="FF0000"/>
              </a:solidFill>
              <a:prstDash val="lg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</p:grpSp>
      <p:pic>
        <p:nvPicPr>
          <p:cNvPr id="40" name="Picture 7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0034" y="4984264"/>
            <a:ext cx="494088" cy="512387"/>
          </a:xfrm>
          <a:prstGeom prst="rect">
            <a:avLst/>
          </a:prstGeom>
        </p:spPr>
      </p:pic>
      <p:grpSp>
        <p:nvGrpSpPr>
          <p:cNvPr id="41" name="Group 21"/>
          <p:cNvGrpSpPr>
            <a:grpSpLocks/>
          </p:cNvGrpSpPr>
          <p:nvPr/>
        </p:nvGrpSpPr>
        <p:grpSpPr bwMode="auto">
          <a:xfrm>
            <a:off x="8906036" y="4842041"/>
            <a:ext cx="847043" cy="1093348"/>
            <a:chOff x="545458" y="4783771"/>
            <a:chExt cx="2293787" cy="1733798"/>
          </a:xfrm>
        </p:grpSpPr>
        <p:sp>
          <p:nvSpPr>
            <p:cNvPr id="42" name="Rounded Rectangle 14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  <p:sp>
          <p:nvSpPr>
            <p:cNvPr id="43" name="Rounded Rectangle 15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rgbClr val="FF0000"/>
              </a:solidFill>
              <a:prstDash val="lg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</p:grpSp>
      <p:sp>
        <p:nvSpPr>
          <p:cNvPr id="44" name="テキスト ボックス 43"/>
          <p:cNvSpPr txBox="1"/>
          <p:nvPr/>
        </p:nvSpPr>
        <p:spPr>
          <a:xfrm>
            <a:off x="2893729" y="5606473"/>
            <a:ext cx="8579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>
                <a:latin typeface="Arial" panose="020B0604020202020204" pitchFamily="34" charset="0"/>
                <a:cs typeface="Arial" panose="020B0604020202020204" pitchFamily="34" charset="0"/>
              </a:rPr>
              <a:t>Mastodon</a:t>
            </a:r>
            <a:endParaRPr kumimoji="1"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テキスト ボックス 45"/>
          <p:cNvSpPr txBox="1"/>
          <p:nvPr/>
        </p:nvSpPr>
        <p:spPr>
          <a:xfrm>
            <a:off x="1456669" y="5606473"/>
            <a:ext cx="909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 err="1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endParaRPr kumimoji="1"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5882007" y="5606473"/>
            <a:ext cx="909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 err="1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endParaRPr kumimoji="1"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テキスト ボックス 47"/>
          <p:cNvSpPr txBox="1"/>
          <p:nvPr/>
        </p:nvSpPr>
        <p:spPr>
          <a:xfrm>
            <a:off x="4508739" y="5606473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endParaRPr kumimoji="1"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テキスト ボックス 48"/>
          <p:cNvSpPr txBox="1"/>
          <p:nvPr/>
        </p:nvSpPr>
        <p:spPr>
          <a:xfrm>
            <a:off x="9069978" y="5606473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endParaRPr kumimoji="1"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テキスト ボックス 50"/>
          <p:cNvSpPr txBox="1"/>
          <p:nvPr/>
        </p:nvSpPr>
        <p:spPr>
          <a:xfrm>
            <a:off x="10318077" y="6185615"/>
            <a:ext cx="12186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>
                <a:latin typeface="Arial" panose="020B0604020202020204" pitchFamily="34" charset="0"/>
                <a:cs typeface="Arial" panose="020B0604020202020204" pitchFamily="34" charset="0"/>
              </a:rPr>
              <a:t>S3 for contents</a:t>
            </a:r>
            <a:endParaRPr kumimoji="1"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3" name="Picture 6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774" y="1537959"/>
            <a:ext cx="538196" cy="564237"/>
          </a:xfrm>
          <a:prstGeom prst="rect">
            <a:avLst/>
          </a:prstGeom>
        </p:spPr>
      </p:pic>
      <p:sp>
        <p:nvSpPr>
          <p:cNvPr id="55" name="テキスト ボックス 54"/>
          <p:cNvSpPr txBox="1"/>
          <p:nvPr/>
        </p:nvSpPr>
        <p:spPr>
          <a:xfrm>
            <a:off x="5454141" y="2050583"/>
            <a:ext cx="13548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>
                <a:latin typeface="Arial" panose="020B0604020202020204" pitchFamily="34" charset="0"/>
                <a:cs typeface="Arial" panose="020B0604020202020204" pitchFamily="34" charset="0"/>
              </a:rPr>
              <a:t>Internet Gateway</a:t>
            </a:r>
            <a:endParaRPr kumimoji="1"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6" name="Picture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8484" y="859853"/>
            <a:ext cx="709267" cy="701253"/>
          </a:xfrm>
          <a:prstGeom prst="rect">
            <a:avLst/>
          </a:prstGeom>
        </p:spPr>
      </p:pic>
      <p:sp>
        <p:nvSpPr>
          <p:cNvPr id="45" name="Rounded Rectangle 21"/>
          <p:cNvSpPr/>
          <p:nvPr/>
        </p:nvSpPr>
        <p:spPr>
          <a:xfrm>
            <a:off x="5778529" y="2702600"/>
            <a:ext cx="4136707" cy="1620018"/>
          </a:xfrm>
          <a:prstGeom prst="roundRect">
            <a:avLst>
              <a:gd name="adj" fmla="val 9818"/>
            </a:avLst>
          </a:prstGeom>
          <a:noFill/>
          <a:ln w="635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b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tx1"/>
                </a:solidFill>
                <a:latin typeface="Helvetica Neue"/>
                <a:cs typeface="Helvetica Neue"/>
              </a:rPr>
              <a:t>Public Subnet </a:t>
            </a:r>
            <a:r>
              <a:rPr lang="en-US" altLang="ja-JP" sz="1200" dirty="0">
                <a:solidFill>
                  <a:schemeClr val="tx1"/>
                </a:solidFill>
                <a:latin typeface="Helvetica Neue"/>
                <a:cs typeface="Helvetica Neue"/>
              </a:rPr>
              <a:t>(10.0.21.0/24)</a:t>
            </a:r>
            <a:endParaRPr lang="en-US" sz="1200" dirty="0">
              <a:solidFill>
                <a:schemeClr val="tx1"/>
              </a:solidFill>
              <a:latin typeface="Helvetica Neue"/>
              <a:cs typeface="Helvetica Neue"/>
            </a:endParaRPr>
          </a:p>
        </p:txBody>
      </p:sp>
      <p:pic>
        <p:nvPicPr>
          <p:cNvPr id="50" name="Picture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7655" y="2540208"/>
            <a:ext cx="215900" cy="241300"/>
          </a:xfrm>
          <a:prstGeom prst="rect">
            <a:avLst/>
          </a:prstGeom>
        </p:spPr>
      </p:pic>
      <p:pic>
        <p:nvPicPr>
          <p:cNvPr id="54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61" y="4820018"/>
            <a:ext cx="503140" cy="521774"/>
          </a:xfrm>
          <a:prstGeom prst="rect">
            <a:avLst/>
          </a:prstGeom>
        </p:spPr>
      </p:pic>
      <p:sp>
        <p:nvSpPr>
          <p:cNvPr id="57" name="テキスト ボックス 56"/>
          <p:cNvSpPr txBox="1"/>
          <p:nvPr/>
        </p:nvSpPr>
        <p:spPr>
          <a:xfrm>
            <a:off x="10391013" y="5314416"/>
            <a:ext cx="1072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>
                <a:latin typeface="Arial" panose="020B0604020202020204" pitchFamily="34" charset="0"/>
                <a:cs typeface="Arial" panose="020B0604020202020204" pitchFamily="34" charset="0"/>
              </a:rPr>
              <a:t>S3 for LB log</a:t>
            </a:r>
            <a:endParaRPr kumimoji="1"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8" name="Picture 3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541" y="3118757"/>
            <a:ext cx="543639" cy="564959"/>
          </a:xfrm>
          <a:prstGeom prst="rect">
            <a:avLst/>
          </a:prstGeom>
        </p:spPr>
      </p:pic>
      <p:grpSp>
        <p:nvGrpSpPr>
          <p:cNvPr id="59" name="Group 21"/>
          <p:cNvGrpSpPr>
            <a:grpSpLocks/>
          </p:cNvGrpSpPr>
          <p:nvPr/>
        </p:nvGrpSpPr>
        <p:grpSpPr bwMode="auto">
          <a:xfrm>
            <a:off x="7091972" y="4842046"/>
            <a:ext cx="1471854" cy="1093348"/>
            <a:chOff x="545458" y="4783771"/>
            <a:chExt cx="2293787" cy="1733798"/>
          </a:xfrm>
        </p:grpSpPr>
        <p:sp>
          <p:nvSpPr>
            <p:cNvPr id="60" name="Rounded Rectangle 14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  <p:sp>
          <p:nvSpPr>
            <p:cNvPr id="61" name="Rounded Rectangle 15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rgbClr val="FF0000"/>
              </a:solidFill>
              <a:prstDash val="lg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</p:grpSp>
      <p:sp>
        <p:nvSpPr>
          <p:cNvPr id="63" name="テキスト ボックス 62"/>
          <p:cNvSpPr txBox="1"/>
          <p:nvPr/>
        </p:nvSpPr>
        <p:spPr>
          <a:xfrm>
            <a:off x="7391851" y="5606479"/>
            <a:ext cx="8579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>
                <a:latin typeface="Arial" panose="020B0604020202020204" pitchFamily="34" charset="0"/>
                <a:cs typeface="Arial" panose="020B0604020202020204" pitchFamily="34" charset="0"/>
              </a:rPr>
              <a:t>Mastodon</a:t>
            </a:r>
            <a:endParaRPr kumimoji="1"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5" name="Picture 3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8347" y="3118757"/>
            <a:ext cx="543639" cy="564959"/>
          </a:xfrm>
          <a:prstGeom prst="rect">
            <a:avLst/>
          </a:prstGeom>
        </p:spPr>
      </p:pic>
      <p:pic>
        <p:nvPicPr>
          <p:cNvPr id="68" name="Picture 7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3854" y="4981989"/>
            <a:ext cx="544781" cy="575047"/>
          </a:xfrm>
          <a:prstGeom prst="rect">
            <a:avLst/>
          </a:prstGeom>
        </p:spPr>
      </p:pic>
      <p:pic>
        <p:nvPicPr>
          <p:cNvPr id="69" name="Picture 7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8048" y="4979516"/>
            <a:ext cx="544781" cy="575047"/>
          </a:xfrm>
          <a:prstGeom prst="rect">
            <a:avLst/>
          </a:prstGeom>
        </p:spPr>
      </p:pic>
      <p:sp>
        <p:nvSpPr>
          <p:cNvPr id="70" name="テキスト ボックス 69"/>
          <p:cNvSpPr txBox="1"/>
          <p:nvPr/>
        </p:nvSpPr>
        <p:spPr>
          <a:xfrm>
            <a:off x="1459995" y="3722251"/>
            <a:ext cx="11721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>
                <a:latin typeface="Arial" panose="020B0604020202020204" pitchFamily="34" charset="0"/>
                <a:cs typeface="Arial" panose="020B0604020202020204" pitchFamily="34" charset="0"/>
              </a:rPr>
              <a:t>Load Balancer</a:t>
            </a:r>
            <a:endParaRPr kumimoji="1"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6261456" y="3722251"/>
            <a:ext cx="11721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>
                <a:latin typeface="Arial" panose="020B0604020202020204" pitchFamily="34" charset="0"/>
                <a:cs typeface="Arial" panose="020B0604020202020204" pitchFamily="34" charset="0"/>
              </a:rPr>
              <a:t>Load Balancer</a:t>
            </a:r>
            <a:endParaRPr kumimoji="1"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2" name="Picture 5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512" y="4598664"/>
            <a:ext cx="544781" cy="529649"/>
          </a:xfrm>
          <a:prstGeom prst="rect">
            <a:avLst/>
          </a:prstGeom>
        </p:spPr>
      </p:pic>
      <p:grpSp>
        <p:nvGrpSpPr>
          <p:cNvPr id="73" name="Group 21"/>
          <p:cNvGrpSpPr>
            <a:grpSpLocks/>
          </p:cNvGrpSpPr>
          <p:nvPr/>
        </p:nvGrpSpPr>
        <p:grpSpPr bwMode="auto">
          <a:xfrm>
            <a:off x="1440495" y="2916254"/>
            <a:ext cx="1177672" cy="1093348"/>
            <a:chOff x="545458" y="4783771"/>
            <a:chExt cx="2293787" cy="1733798"/>
          </a:xfrm>
        </p:grpSpPr>
        <p:sp>
          <p:nvSpPr>
            <p:cNvPr id="74" name="Rounded Rectangle 14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  <p:sp>
          <p:nvSpPr>
            <p:cNvPr id="75" name="Rounded Rectangle 15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rgbClr val="FF0000"/>
              </a:solidFill>
              <a:prstDash val="lg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</p:grpSp>
      <p:grpSp>
        <p:nvGrpSpPr>
          <p:cNvPr id="76" name="Group 21"/>
          <p:cNvGrpSpPr>
            <a:grpSpLocks/>
          </p:cNvGrpSpPr>
          <p:nvPr/>
        </p:nvGrpSpPr>
        <p:grpSpPr bwMode="auto">
          <a:xfrm>
            <a:off x="6080591" y="2916254"/>
            <a:ext cx="1471854" cy="1093348"/>
            <a:chOff x="545458" y="4783771"/>
            <a:chExt cx="2293787" cy="1733798"/>
          </a:xfrm>
        </p:grpSpPr>
        <p:sp>
          <p:nvSpPr>
            <p:cNvPr id="77" name="Rounded Rectangle 14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  <p:sp>
          <p:nvSpPr>
            <p:cNvPr id="78" name="Rounded Rectangle 15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rgbClr val="FF0000"/>
              </a:solidFill>
              <a:prstDash val="lg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</p:grpSp>
      <p:grpSp>
        <p:nvGrpSpPr>
          <p:cNvPr id="79" name="Group 21"/>
          <p:cNvGrpSpPr>
            <a:grpSpLocks/>
          </p:cNvGrpSpPr>
          <p:nvPr/>
        </p:nvGrpSpPr>
        <p:grpSpPr bwMode="auto">
          <a:xfrm>
            <a:off x="4115998" y="2916254"/>
            <a:ext cx="1138234" cy="1093348"/>
            <a:chOff x="545458" y="4783771"/>
            <a:chExt cx="2293787" cy="1733798"/>
          </a:xfrm>
        </p:grpSpPr>
        <p:sp>
          <p:nvSpPr>
            <p:cNvPr id="80" name="Rounded Rectangle 14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  <p:sp>
          <p:nvSpPr>
            <p:cNvPr id="81" name="Rounded Rectangle 15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rgbClr val="FF0000"/>
              </a:solidFill>
              <a:prstDash val="lg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</p:grpSp>
      <p:pic>
        <p:nvPicPr>
          <p:cNvPr id="82" name="Picture 6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4644" y="3118757"/>
            <a:ext cx="544781" cy="564959"/>
          </a:xfrm>
          <a:prstGeom prst="rect">
            <a:avLst/>
          </a:prstGeom>
        </p:spPr>
      </p:pic>
      <p:sp>
        <p:nvSpPr>
          <p:cNvPr id="83" name="テキスト ボックス 82"/>
          <p:cNvSpPr txBox="1"/>
          <p:nvPr/>
        </p:nvSpPr>
        <p:spPr>
          <a:xfrm>
            <a:off x="4152391" y="3722251"/>
            <a:ext cx="1101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>
                <a:latin typeface="Arial" panose="020B0604020202020204" pitchFamily="34" charset="0"/>
                <a:cs typeface="Arial" panose="020B0604020202020204" pitchFamily="34" charset="0"/>
              </a:rPr>
              <a:t>NAT Instance</a:t>
            </a:r>
            <a:endParaRPr kumimoji="1"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4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61" y="3758329"/>
            <a:ext cx="503140" cy="521774"/>
          </a:xfrm>
          <a:prstGeom prst="rect">
            <a:avLst/>
          </a:prstGeom>
        </p:spPr>
      </p:pic>
      <p:sp>
        <p:nvSpPr>
          <p:cNvPr id="85" name="テキスト ボックス 84"/>
          <p:cNvSpPr txBox="1"/>
          <p:nvPr/>
        </p:nvSpPr>
        <p:spPr>
          <a:xfrm>
            <a:off x="10242737" y="4252727"/>
            <a:ext cx="13692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>
                <a:latin typeface="Arial" panose="020B0604020202020204" pitchFamily="34" charset="0"/>
                <a:cs typeface="Arial" panose="020B0604020202020204" pitchFamily="34" charset="0"/>
              </a:rPr>
              <a:t>S3 for </a:t>
            </a:r>
            <a:r>
              <a:rPr kumimoji="1" lang="en-US" altLang="ja-JP" sz="1200" dirty="0" err="1">
                <a:latin typeface="Arial" panose="020B0604020202020204" pitchFamily="34" charset="0"/>
                <a:cs typeface="Arial" panose="020B0604020202020204" pitchFamily="34" charset="0"/>
              </a:rPr>
              <a:t>Prebuilded</a:t>
            </a:r>
            <a:endParaRPr kumimoji="1" lang="en-US" altLang="ja-JP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ja-JP" sz="1200" dirty="0">
                <a:latin typeface="Arial" panose="020B0604020202020204" pitchFamily="34" charset="0"/>
                <a:cs typeface="Arial" panose="020B0604020202020204" pitchFamily="34" charset="0"/>
              </a:rPr>
              <a:t>Package</a:t>
            </a:r>
            <a:endParaRPr kumimoji="1"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6" name="Picture 5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525" y="4598664"/>
            <a:ext cx="544781" cy="529649"/>
          </a:xfrm>
          <a:prstGeom prst="rect">
            <a:avLst/>
          </a:prstGeom>
        </p:spPr>
      </p:pic>
      <p:grpSp>
        <p:nvGrpSpPr>
          <p:cNvPr id="93" name="Group 21"/>
          <p:cNvGrpSpPr>
            <a:grpSpLocks/>
          </p:cNvGrpSpPr>
          <p:nvPr/>
        </p:nvGrpSpPr>
        <p:grpSpPr bwMode="auto">
          <a:xfrm>
            <a:off x="2803620" y="2916254"/>
            <a:ext cx="1138234" cy="1093348"/>
            <a:chOff x="545458" y="4783771"/>
            <a:chExt cx="2293787" cy="1733798"/>
          </a:xfrm>
        </p:grpSpPr>
        <p:sp>
          <p:nvSpPr>
            <p:cNvPr id="94" name="Rounded Rectangle 14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  <p:sp>
          <p:nvSpPr>
            <p:cNvPr id="95" name="Rounded Rectangle 15"/>
            <p:cNvSpPr/>
            <p:nvPr/>
          </p:nvSpPr>
          <p:spPr>
            <a:xfrm>
              <a:off x="545458" y="4783771"/>
              <a:ext cx="2293787" cy="1733798"/>
            </a:xfrm>
            <a:prstGeom prst="roundRect">
              <a:avLst>
                <a:gd name="adj" fmla="val 9818"/>
              </a:avLst>
            </a:prstGeom>
            <a:noFill/>
            <a:ln w="19050">
              <a:solidFill>
                <a:srgbClr val="FF0000"/>
              </a:solidFill>
              <a:prstDash val="lg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Helvetica Neue"/>
                <a:cs typeface="Helvetica Neue"/>
              </a:endParaRPr>
            </a:p>
          </p:txBody>
        </p:sp>
      </p:grpSp>
      <p:pic>
        <p:nvPicPr>
          <p:cNvPr id="96" name="Picture 6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266" y="3118757"/>
            <a:ext cx="544781" cy="564959"/>
          </a:xfrm>
          <a:prstGeom prst="rect">
            <a:avLst/>
          </a:prstGeom>
        </p:spPr>
      </p:pic>
      <p:sp>
        <p:nvSpPr>
          <p:cNvPr id="97" name="テキスト ボックス 96"/>
          <p:cNvSpPr txBox="1"/>
          <p:nvPr/>
        </p:nvSpPr>
        <p:spPr>
          <a:xfrm>
            <a:off x="3042922" y="3722251"/>
            <a:ext cx="696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>
                <a:latin typeface="Arial" panose="020B0604020202020204" pitchFamily="34" charset="0"/>
                <a:cs typeface="Arial" panose="020B0604020202020204" pitchFamily="34" charset="0"/>
              </a:rPr>
              <a:t>Bastion</a:t>
            </a:r>
            <a:endParaRPr kumimoji="1"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8" name="Picture 1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597" y="1910652"/>
            <a:ext cx="536134" cy="496713"/>
          </a:xfrm>
          <a:prstGeom prst="rect">
            <a:avLst/>
          </a:prstGeom>
        </p:spPr>
      </p:pic>
      <p:sp>
        <p:nvSpPr>
          <p:cNvPr id="99" name="テキスト ボックス 98"/>
          <p:cNvSpPr txBox="1"/>
          <p:nvPr/>
        </p:nvSpPr>
        <p:spPr>
          <a:xfrm>
            <a:off x="1810594" y="2423276"/>
            <a:ext cx="1336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>
                <a:latin typeface="Arial" panose="020B0604020202020204" pitchFamily="34" charset="0"/>
                <a:cs typeface="Arial" panose="020B0604020202020204" pitchFamily="34" charset="0"/>
              </a:rPr>
              <a:t>NAT Route Table</a:t>
            </a:r>
            <a:endParaRPr kumimoji="1"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0" name="Picture 1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755" y="1911370"/>
            <a:ext cx="536134" cy="496713"/>
          </a:xfrm>
          <a:prstGeom prst="rect">
            <a:avLst/>
          </a:prstGeom>
        </p:spPr>
      </p:pic>
      <p:sp>
        <p:nvSpPr>
          <p:cNvPr id="101" name="テキスト ボックス 100"/>
          <p:cNvSpPr txBox="1"/>
          <p:nvPr/>
        </p:nvSpPr>
        <p:spPr>
          <a:xfrm>
            <a:off x="3156659" y="2423994"/>
            <a:ext cx="13590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>
                <a:latin typeface="Arial" panose="020B0604020202020204" pitchFamily="34" charset="0"/>
                <a:cs typeface="Arial" panose="020B0604020202020204" pitchFamily="34" charset="0"/>
              </a:rPr>
              <a:t>VPC Route Table</a:t>
            </a:r>
            <a:endParaRPr kumimoji="1"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" name="Picture 50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35" y="2894523"/>
            <a:ext cx="544779" cy="448642"/>
          </a:xfrm>
          <a:prstGeom prst="rect">
            <a:avLst/>
          </a:prstGeom>
        </p:spPr>
      </p:pic>
      <p:sp>
        <p:nvSpPr>
          <p:cNvPr id="103" name="テキスト ボックス 102"/>
          <p:cNvSpPr txBox="1"/>
          <p:nvPr/>
        </p:nvSpPr>
        <p:spPr>
          <a:xfrm>
            <a:off x="10170850" y="3365005"/>
            <a:ext cx="15231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>
                <a:latin typeface="Arial" panose="020B0604020202020204" pitchFamily="34" charset="0"/>
                <a:cs typeface="Arial" panose="020B0604020202020204" pitchFamily="34" charset="0"/>
              </a:rPr>
              <a:t>Certificate Manager</a:t>
            </a:r>
            <a:endParaRPr kumimoji="1"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Rounded Rectangle 6"/>
          <p:cNvSpPr/>
          <p:nvPr/>
        </p:nvSpPr>
        <p:spPr>
          <a:xfrm>
            <a:off x="1370773" y="2748803"/>
            <a:ext cx="4022053" cy="1531300"/>
          </a:xfrm>
          <a:prstGeom prst="roundRect">
            <a:avLst>
              <a:gd name="adj" fmla="val 9818"/>
            </a:avLst>
          </a:prstGeom>
          <a:noFill/>
          <a:ln w="19050">
            <a:solidFill>
              <a:srgbClr val="F7981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  <a:latin typeface="Helvetica Neue"/>
              <a:cs typeface="Helvetica Neue"/>
            </a:endParaRPr>
          </a:p>
        </p:txBody>
      </p:sp>
      <p:sp>
        <p:nvSpPr>
          <p:cNvPr id="105" name="Rounded Rectangle 6"/>
          <p:cNvSpPr/>
          <p:nvPr/>
        </p:nvSpPr>
        <p:spPr>
          <a:xfrm>
            <a:off x="5835119" y="2748803"/>
            <a:ext cx="4022053" cy="1531300"/>
          </a:xfrm>
          <a:prstGeom prst="roundRect">
            <a:avLst>
              <a:gd name="adj" fmla="val 9818"/>
            </a:avLst>
          </a:prstGeom>
          <a:noFill/>
          <a:ln w="19050">
            <a:solidFill>
              <a:srgbClr val="F7981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  <a:latin typeface="Helvetica Neue"/>
              <a:cs typeface="Helvetica Neue"/>
            </a:endParaRPr>
          </a:p>
        </p:txBody>
      </p:sp>
      <p:sp>
        <p:nvSpPr>
          <p:cNvPr id="106" name="Rounded Rectangle 6"/>
          <p:cNvSpPr/>
          <p:nvPr/>
        </p:nvSpPr>
        <p:spPr>
          <a:xfrm>
            <a:off x="1367158" y="4605043"/>
            <a:ext cx="4022053" cy="1585624"/>
          </a:xfrm>
          <a:prstGeom prst="roundRect">
            <a:avLst>
              <a:gd name="adj" fmla="val 9818"/>
            </a:avLst>
          </a:prstGeom>
          <a:noFill/>
          <a:ln w="19050">
            <a:solidFill>
              <a:srgbClr val="F7981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  <a:latin typeface="Helvetica Neue"/>
              <a:cs typeface="Helvetica Neue"/>
            </a:endParaRPr>
          </a:p>
        </p:txBody>
      </p:sp>
      <p:sp>
        <p:nvSpPr>
          <p:cNvPr id="107" name="Rounded Rectangle 6"/>
          <p:cNvSpPr/>
          <p:nvPr/>
        </p:nvSpPr>
        <p:spPr>
          <a:xfrm>
            <a:off x="5831504" y="4605043"/>
            <a:ext cx="4022053" cy="1585624"/>
          </a:xfrm>
          <a:prstGeom prst="roundRect">
            <a:avLst>
              <a:gd name="adj" fmla="val 9818"/>
            </a:avLst>
          </a:prstGeom>
          <a:noFill/>
          <a:ln w="19050">
            <a:solidFill>
              <a:srgbClr val="F7981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  <a:latin typeface="Helvetica Neue"/>
              <a:cs typeface="Helvetica Neue"/>
            </a:endParaRPr>
          </a:p>
        </p:txBody>
      </p:sp>
      <p:pic>
        <p:nvPicPr>
          <p:cNvPr id="87" name="Picture 53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453" y="1910652"/>
            <a:ext cx="538195" cy="564237"/>
          </a:xfrm>
          <a:prstGeom prst="rect">
            <a:avLst/>
          </a:prstGeom>
        </p:spPr>
      </p:pic>
      <p:sp>
        <p:nvSpPr>
          <p:cNvPr id="88" name="テキスト ボックス 87"/>
          <p:cNvSpPr txBox="1"/>
          <p:nvPr/>
        </p:nvSpPr>
        <p:spPr>
          <a:xfrm>
            <a:off x="8981831" y="2423276"/>
            <a:ext cx="11480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>
                <a:latin typeface="Arial" panose="020B0604020202020204" pitchFamily="34" charset="0"/>
                <a:cs typeface="Arial" panose="020B0604020202020204" pitchFamily="34" charset="0"/>
              </a:rPr>
              <a:t>VPC Endpoint</a:t>
            </a:r>
            <a:endParaRPr kumimoji="1" lang="ja-JP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905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92</Words>
  <Application>Microsoft Office PowerPoint</Application>
  <PresentationFormat>ワイド画面</PresentationFormat>
  <Paragraphs>38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Helvetica Neue</vt:lpstr>
      <vt:lpstr>游ゴシック</vt:lpstr>
      <vt:lpstr>游ゴシック Light</vt:lpstr>
      <vt:lpstr>Arial</vt:lpstr>
      <vt:lpstr>Office テーマ</vt:lpstr>
      <vt:lpstr>構成図(Simple)</vt:lpstr>
      <vt:lpstr>構成図(AS-ALB)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物理構成図</dc:title>
  <dc:creator>酒井隆雄</dc:creator>
  <cp:lastModifiedBy>酒井隆雄</cp:lastModifiedBy>
  <cp:revision>34</cp:revision>
  <dcterms:created xsi:type="dcterms:W3CDTF">2017-05-02T02:16:58Z</dcterms:created>
  <dcterms:modified xsi:type="dcterms:W3CDTF">2017-05-13T05:02:45Z</dcterms:modified>
</cp:coreProperties>
</file>