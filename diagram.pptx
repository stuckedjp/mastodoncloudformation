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3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6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091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0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237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68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058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8660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50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7532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8989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709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2198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78869-E7FE-43D7-AE61-CE609612467D}" type="datetimeFigureOut">
              <a:rPr kumimoji="1" lang="ja-JP" altLang="en-US" smtClean="0"/>
              <a:t>2026/8/11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261CA-18EB-493F-85D1-701ECFA85B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57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構成図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CDDE610F-ACA4-2663-EAAB-1BB639500B9D}"/>
              </a:ext>
            </a:extLst>
          </p:cNvPr>
          <p:cNvGrpSpPr/>
          <p:nvPr/>
        </p:nvGrpSpPr>
        <p:grpSpPr>
          <a:xfrm>
            <a:off x="158074" y="1342749"/>
            <a:ext cx="11875852" cy="5399309"/>
            <a:chOff x="158074" y="1342749"/>
            <a:chExt cx="11875852" cy="5399309"/>
          </a:xfrm>
        </p:grpSpPr>
        <p:sp>
          <p:nvSpPr>
            <p:cNvPr id="3" name="Rectangle 40" descr="Group border and label">
              <a:extLst>
                <a:ext uri="{FF2B5EF4-FFF2-40B4-BE49-F238E27FC236}">
                  <a16:creationId xmlns:a16="http://schemas.microsoft.com/office/drawing/2014/main" id="{BD33AC1B-0485-9DD7-F2BF-F77CBF4A832A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/>
            <p:nvPr/>
          </p:nvSpPr>
          <p:spPr>
            <a:xfrm>
              <a:off x="158074" y="1342749"/>
              <a:ext cx="11875852" cy="5399309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Cloud</a:t>
              </a:r>
            </a:p>
          </p:txBody>
        </p:sp>
        <p:pic>
          <p:nvPicPr>
            <p:cNvPr id="7" name="Graphic 56" descr="AWS logo in group.">
              <a:extLst>
                <a:ext uri="{FF2B5EF4-FFF2-40B4-BE49-F238E27FC236}">
                  <a16:creationId xmlns:a16="http://schemas.microsoft.com/office/drawing/2014/main" id="{0F5D9915-035F-3840-13D2-95DEFC80B9D7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58074" y="1342750"/>
              <a:ext cx="381000" cy="381000"/>
            </a:xfrm>
            <a:prstGeom prst="rect">
              <a:avLst/>
            </a:prstGeom>
          </p:spPr>
        </p:pic>
      </p:grpSp>
      <p:sp>
        <p:nvSpPr>
          <p:cNvPr id="24" name="Rectangle 39" descr="VPC group border">
            <a:extLst>
              <a:ext uri="{FF2B5EF4-FFF2-40B4-BE49-F238E27FC236}">
                <a16:creationId xmlns:a16="http://schemas.microsoft.com/office/drawing/2014/main" id="{396D2942-4F07-CC10-13D0-966019180A5E}"/>
              </a:ext>
            </a:extLst>
          </p:cNvPr>
          <p:cNvSpPr/>
          <p:nvPr/>
        </p:nvSpPr>
        <p:spPr>
          <a:xfrm>
            <a:off x="534345" y="1730651"/>
            <a:ext cx="8666531" cy="4923906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8" name="Graphic 57" descr="VPC group icon.">
            <a:extLst>
              <a:ext uri="{FF2B5EF4-FFF2-40B4-BE49-F238E27FC236}">
                <a16:creationId xmlns:a16="http://schemas.microsoft.com/office/drawing/2014/main" id="{706954A8-D2C4-D360-FE27-8DA84D1AC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4345" y="1725889"/>
            <a:ext cx="381000" cy="381000"/>
          </a:xfrm>
          <a:prstGeom prst="rect">
            <a:avLst/>
          </a:prstGeom>
        </p:spPr>
      </p:pic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128E59C6-89C2-6299-38FE-BEC3CC84380E}"/>
              </a:ext>
            </a:extLst>
          </p:cNvPr>
          <p:cNvGrpSpPr/>
          <p:nvPr/>
        </p:nvGrpSpPr>
        <p:grpSpPr>
          <a:xfrm>
            <a:off x="5406816" y="1518335"/>
            <a:ext cx="1403350" cy="734199"/>
            <a:chOff x="7328508" y="1855841"/>
            <a:chExt cx="1403350" cy="734199"/>
          </a:xfrm>
        </p:grpSpPr>
        <p:sp>
          <p:nvSpPr>
            <p:cNvPr id="52" name="background">
              <a:extLst>
                <a:ext uri="{FF2B5EF4-FFF2-40B4-BE49-F238E27FC236}">
                  <a16:creationId xmlns:a16="http://schemas.microsoft.com/office/drawing/2014/main" id="{64C71F68-7883-6398-F91E-FC1817A60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819693" y="1869234"/>
              <a:ext cx="413413" cy="42149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2" name="Group 5" descr="Internet gateway service icon on VPC container.">
              <a:extLst>
                <a:ext uri="{FF2B5EF4-FFF2-40B4-BE49-F238E27FC236}">
                  <a16:creationId xmlns:a16="http://schemas.microsoft.com/office/drawing/2014/main" id="{23CED595-A127-8B47-C99D-D6991C6777FF}"/>
                </a:ext>
              </a:extLst>
            </p:cNvPr>
            <p:cNvGrpSpPr/>
            <p:nvPr/>
          </p:nvGrpSpPr>
          <p:grpSpPr>
            <a:xfrm>
              <a:off x="7328508" y="1855841"/>
              <a:ext cx="1403350" cy="734199"/>
              <a:chOff x="7328508" y="1855841"/>
              <a:chExt cx="1403350" cy="734199"/>
            </a:xfrm>
          </p:grpSpPr>
          <p:pic>
            <p:nvPicPr>
              <p:cNvPr id="64" name="Graphic 10" descr="Internet gateway resource icon for the Amazon VPC service.">
                <a:extLst>
                  <a:ext uri="{FF2B5EF4-FFF2-40B4-BE49-F238E27FC236}">
                    <a16:creationId xmlns:a16="http://schemas.microsoft.com/office/drawing/2014/main" id="{91ADCEEF-AE82-BB06-37E3-82C810AC6B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 bwMode="auto">
              <a:xfrm>
                <a:off x="7799044" y="1855841"/>
                <a:ext cx="457200" cy="457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" name="TextBox 12">
                <a:extLst>
                  <a:ext uri="{FF2B5EF4-FFF2-40B4-BE49-F238E27FC236}">
                    <a16:creationId xmlns:a16="http://schemas.microsoft.com/office/drawing/2014/main" id="{B1EA9723-B81E-B79D-AB54-EC3EA7BAA4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328508" y="2313041"/>
                <a:ext cx="1403350" cy="2769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Internet gateway</a:t>
                </a:r>
              </a:p>
            </p:txBody>
          </p:sp>
        </p:grpSp>
      </p:grpSp>
      <p:grpSp>
        <p:nvGrpSpPr>
          <p:cNvPr id="200" name="グループ化 199">
            <a:extLst>
              <a:ext uri="{FF2B5EF4-FFF2-40B4-BE49-F238E27FC236}">
                <a16:creationId xmlns:a16="http://schemas.microsoft.com/office/drawing/2014/main" id="{3341FC14-7110-6D48-59EF-AD2CA07A80B2}"/>
              </a:ext>
            </a:extLst>
          </p:cNvPr>
          <p:cNvGrpSpPr/>
          <p:nvPr/>
        </p:nvGrpSpPr>
        <p:grpSpPr>
          <a:xfrm>
            <a:off x="634826" y="2601365"/>
            <a:ext cx="8482923" cy="1330034"/>
            <a:chOff x="634826" y="2601365"/>
            <a:chExt cx="8482923" cy="1330034"/>
          </a:xfrm>
        </p:grpSpPr>
        <p:sp>
          <p:nvSpPr>
            <p:cNvPr id="90" name="Rectangle 73">
              <a:extLst>
                <a:ext uri="{FF2B5EF4-FFF2-40B4-BE49-F238E27FC236}">
                  <a16:creationId xmlns:a16="http://schemas.microsoft.com/office/drawing/2014/main" id="{8156BFBC-26CA-888A-933E-9FFCAA36D54B}"/>
                </a:ext>
              </a:extLst>
            </p:cNvPr>
            <p:cNvSpPr/>
            <p:nvPr/>
          </p:nvSpPr>
          <p:spPr>
            <a:xfrm>
              <a:off x="634826" y="2601365"/>
              <a:ext cx="8482923" cy="1330034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Public subnet</a:t>
              </a:r>
            </a:p>
          </p:txBody>
        </p:sp>
        <p:pic>
          <p:nvPicPr>
            <p:cNvPr id="91" name="Graphic 74" descr="Public subnet group icon. ">
              <a:extLst>
                <a:ext uri="{FF2B5EF4-FFF2-40B4-BE49-F238E27FC236}">
                  <a16:creationId xmlns:a16="http://schemas.microsoft.com/office/drawing/2014/main" id="{78A9C47A-FEDD-C6F2-5C0A-5CEC4BBDA8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34828" y="2601365"/>
              <a:ext cx="381000" cy="381000"/>
            </a:xfrm>
            <a:prstGeom prst="rect">
              <a:avLst/>
            </a:prstGeom>
          </p:spPr>
        </p:pic>
      </p:grpSp>
      <p:grpSp>
        <p:nvGrpSpPr>
          <p:cNvPr id="201" name="グループ化 200">
            <a:extLst>
              <a:ext uri="{FF2B5EF4-FFF2-40B4-BE49-F238E27FC236}">
                <a16:creationId xmlns:a16="http://schemas.microsoft.com/office/drawing/2014/main" id="{09746D6D-492C-7AB7-954C-0DC72C133F2A}"/>
              </a:ext>
            </a:extLst>
          </p:cNvPr>
          <p:cNvGrpSpPr/>
          <p:nvPr/>
        </p:nvGrpSpPr>
        <p:grpSpPr>
          <a:xfrm>
            <a:off x="634827" y="4088900"/>
            <a:ext cx="8482922" cy="2373714"/>
            <a:chOff x="634827" y="4088900"/>
            <a:chExt cx="8482922" cy="2373714"/>
          </a:xfrm>
        </p:grpSpPr>
        <p:sp>
          <p:nvSpPr>
            <p:cNvPr id="117" name="Rectangle 71">
              <a:extLst>
                <a:ext uri="{FF2B5EF4-FFF2-40B4-BE49-F238E27FC236}">
                  <a16:creationId xmlns:a16="http://schemas.microsoft.com/office/drawing/2014/main" id="{A4C96BAD-4463-C245-B565-585FAAD40112}"/>
                </a:ext>
              </a:extLst>
            </p:cNvPr>
            <p:cNvSpPr/>
            <p:nvPr/>
          </p:nvSpPr>
          <p:spPr>
            <a:xfrm>
              <a:off x="634827" y="4088900"/>
              <a:ext cx="8482922" cy="2373714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Private subnet</a:t>
              </a:r>
            </a:p>
          </p:txBody>
        </p:sp>
        <p:pic>
          <p:nvPicPr>
            <p:cNvPr id="118" name="Graphic 72" descr="Private subnet group icon. ">
              <a:extLst>
                <a:ext uri="{FF2B5EF4-FFF2-40B4-BE49-F238E27FC236}">
                  <a16:creationId xmlns:a16="http://schemas.microsoft.com/office/drawing/2014/main" id="{51301BFA-F53B-E90F-C548-23D3843E42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34827" y="4088900"/>
              <a:ext cx="381000" cy="381000"/>
            </a:xfrm>
            <a:prstGeom prst="rect">
              <a:avLst/>
            </a:prstGeom>
          </p:spPr>
        </p:pic>
      </p:grpSp>
      <p:sp>
        <p:nvSpPr>
          <p:cNvPr id="123" name="Rectangle 62" descr="Availability Zone group.">
            <a:extLst>
              <a:ext uri="{FF2B5EF4-FFF2-40B4-BE49-F238E27FC236}">
                <a16:creationId xmlns:a16="http://schemas.microsoft.com/office/drawing/2014/main" id="{055EA1B1-A68C-6327-9275-5D6019E2941B}"/>
              </a:ext>
            </a:extLst>
          </p:cNvPr>
          <p:cNvSpPr/>
          <p:nvPr/>
        </p:nvSpPr>
        <p:spPr>
          <a:xfrm>
            <a:off x="1106169" y="2252534"/>
            <a:ext cx="7882299" cy="4275143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25" name="Rectangle 63" descr="Security group.">
            <a:extLst>
              <a:ext uri="{FF2B5EF4-FFF2-40B4-BE49-F238E27FC236}">
                <a16:creationId xmlns:a16="http://schemas.microsoft.com/office/drawing/2014/main" id="{B355DA51-A21B-B482-45B9-60EC470C1852}"/>
              </a:ext>
            </a:extLst>
          </p:cNvPr>
          <p:cNvSpPr/>
          <p:nvPr/>
        </p:nvSpPr>
        <p:spPr>
          <a:xfrm>
            <a:off x="3551422" y="2698454"/>
            <a:ext cx="1286584" cy="1156025"/>
          </a:xfrm>
          <a:prstGeom prst="rect">
            <a:avLst/>
          </a:prstGeom>
          <a:noFill/>
          <a:ln w="15875">
            <a:solidFill>
              <a:srgbClr val="DD344C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anchorCtr="1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group</a:t>
            </a:r>
          </a:p>
        </p:txBody>
      </p: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4F343751-08FD-8662-A191-E0015D056DF8}"/>
              </a:ext>
            </a:extLst>
          </p:cNvPr>
          <p:cNvGrpSpPr/>
          <p:nvPr/>
        </p:nvGrpSpPr>
        <p:grpSpPr>
          <a:xfrm>
            <a:off x="3636930" y="3064552"/>
            <a:ext cx="1115568" cy="724191"/>
            <a:chOff x="2319110" y="4097076"/>
            <a:chExt cx="1115568" cy="724191"/>
          </a:xfrm>
        </p:grpSpPr>
        <p:pic>
          <p:nvPicPr>
            <p:cNvPr id="127" name="Graphic 46" descr="Instance instance icon for the Amazon EC2 service.">
              <a:extLst>
                <a:ext uri="{FF2B5EF4-FFF2-40B4-BE49-F238E27FC236}">
                  <a16:creationId xmlns:a16="http://schemas.microsoft.com/office/drawing/2014/main" id="{08CFFB83-A3B0-9681-A6EA-1130CE8746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58708" y="4097076"/>
              <a:ext cx="457200" cy="457200"/>
            </a:xfrm>
            <a:prstGeom prst="rect">
              <a:avLst/>
            </a:prstGeom>
          </p:spPr>
        </p:pic>
        <p:sp>
          <p:nvSpPr>
            <p:cNvPr id="129" name="TextBox 16">
              <a:extLst>
                <a:ext uri="{FF2B5EF4-FFF2-40B4-BE49-F238E27FC236}">
                  <a16:creationId xmlns:a16="http://schemas.microsoft.com/office/drawing/2014/main" id="{DDF0CA8B-8B28-1DAD-6A2B-889353CC7C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9110" y="4544268"/>
              <a:ext cx="111556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rIns="0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NAT Instance</a:t>
              </a:r>
            </a:p>
          </p:txBody>
        </p:sp>
      </p:grp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ACEBB504-BD5D-76AD-6072-81B9FA6C68D6}"/>
              </a:ext>
            </a:extLst>
          </p:cNvPr>
          <p:cNvGrpSpPr/>
          <p:nvPr/>
        </p:nvGrpSpPr>
        <p:grpSpPr>
          <a:xfrm>
            <a:off x="2134534" y="2702104"/>
            <a:ext cx="1313319" cy="1179336"/>
            <a:chOff x="4615218" y="2702104"/>
            <a:chExt cx="1313319" cy="1179336"/>
          </a:xfrm>
        </p:grpSpPr>
        <p:grpSp>
          <p:nvGrpSpPr>
            <p:cNvPr id="136" name="グループ化 135">
              <a:extLst>
                <a:ext uri="{FF2B5EF4-FFF2-40B4-BE49-F238E27FC236}">
                  <a16:creationId xmlns:a16="http://schemas.microsoft.com/office/drawing/2014/main" id="{7AB9611E-692C-BCAE-D845-19CEF93AD041}"/>
                </a:ext>
              </a:extLst>
            </p:cNvPr>
            <p:cNvGrpSpPr/>
            <p:nvPr/>
          </p:nvGrpSpPr>
          <p:grpSpPr>
            <a:xfrm>
              <a:off x="4615218" y="2945113"/>
              <a:ext cx="1313319" cy="936327"/>
              <a:chOff x="6717123" y="2805113"/>
              <a:chExt cx="1313319" cy="936327"/>
            </a:xfrm>
          </p:grpSpPr>
          <p:pic>
            <p:nvPicPr>
              <p:cNvPr id="133" name="Graphic 36" descr="Application Load Balancer resource icon for the Elastic Load Balancing service.">
                <a:extLst>
                  <a:ext uri="{FF2B5EF4-FFF2-40B4-BE49-F238E27FC236}">
                    <a16:creationId xmlns:a16="http://schemas.microsoft.com/office/drawing/2014/main" id="{1603EC9C-7872-729A-CCD3-2265BE1BC1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134507" y="2805113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35" name="TextBox 19">
                <a:extLst>
                  <a:ext uri="{FF2B5EF4-FFF2-40B4-BE49-F238E27FC236}">
                    <a16:creationId xmlns:a16="http://schemas.microsoft.com/office/drawing/2014/main" id="{F3A7A9D6-2698-6386-EDD0-C52B0883ED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717123" y="3279775"/>
                <a:ext cx="1313319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Application Load </a:t>
                </a:r>
                <a:b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</a:br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Balancer</a:t>
                </a:r>
              </a:p>
            </p:txBody>
          </p:sp>
        </p:grpSp>
        <p:sp>
          <p:nvSpPr>
            <p:cNvPr id="138" name="Rectangle 63" descr="Security group.">
              <a:extLst>
                <a:ext uri="{FF2B5EF4-FFF2-40B4-BE49-F238E27FC236}">
                  <a16:creationId xmlns:a16="http://schemas.microsoft.com/office/drawing/2014/main" id="{36DEE7BF-3173-4E94-5131-A0B2C920B282}"/>
                </a:ext>
              </a:extLst>
            </p:cNvPr>
            <p:cNvSpPr/>
            <p:nvPr/>
          </p:nvSpPr>
          <p:spPr>
            <a:xfrm>
              <a:off x="4628585" y="2702104"/>
              <a:ext cx="1286584" cy="1156025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</p:grpSp>
      <p:grpSp>
        <p:nvGrpSpPr>
          <p:cNvPr id="217" name="グループ化 216">
            <a:extLst>
              <a:ext uri="{FF2B5EF4-FFF2-40B4-BE49-F238E27FC236}">
                <a16:creationId xmlns:a16="http://schemas.microsoft.com/office/drawing/2014/main" id="{B6D00B56-70F5-ABCC-2D75-BC9F45686F7A}"/>
              </a:ext>
            </a:extLst>
          </p:cNvPr>
          <p:cNvGrpSpPr/>
          <p:nvPr/>
        </p:nvGrpSpPr>
        <p:grpSpPr>
          <a:xfrm>
            <a:off x="1227515" y="4439013"/>
            <a:ext cx="1286584" cy="1489274"/>
            <a:chOff x="1227515" y="4439013"/>
            <a:chExt cx="1286584" cy="1489274"/>
          </a:xfrm>
        </p:grpSpPr>
        <p:sp>
          <p:nvSpPr>
            <p:cNvPr id="141" name="Rectangle 63" descr="Security group.">
              <a:extLst>
                <a:ext uri="{FF2B5EF4-FFF2-40B4-BE49-F238E27FC236}">
                  <a16:creationId xmlns:a16="http://schemas.microsoft.com/office/drawing/2014/main" id="{F5BA34C7-5AAE-1268-FF5B-99B3645F4E75}"/>
                </a:ext>
              </a:extLst>
            </p:cNvPr>
            <p:cNvSpPr/>
            <p:nvPr/>
          </p:nvSpPr>
          <p:spPr>
            <a:xfrm>
              <a:off x="1227515" y="4439013"/>
              <a:ext cx="1286584" cy="1489274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  <p:grpSp>
          <p:nvGrpSpPr>
            <p:cNvPr id="142" name="グループ化 141">
              <a:extLst>
                <a:ext uri="{FF2B5EF4-FFF2-40B4-BE49-F238E27FC236}">
                  <a16:creationId xmlns:a16="http://schemas.microsoft.com/office/drawing/2014/main" id="{976B2BFB-401D-6859-87B0-B2FD6E17246B}"/>
                </a:ext>
              </a:extLst>
            </p:cNvPr>
            <p:cNvGrpSpPr/>
            <p:nvPr/>
          </p:nvGrpSpPr>
          <p:grpSpPr>
            <a:xfrm>
              <a:off x="1313023" y="4805111"/>
              <a:ext cx="1115568" cy="908857"/>
              <a:chOff x="2319110" y="4097076"/>
              <a:chExt cx="1115568" cy="908857"/>
            </a:xfrm>
          </p:grpSpPr>
          <p:pic>
            <p:nvPicPr>
              <p:cNvPr id="143" name="Graphic 46" descr="Instance instance icon for the Amazon EC2 service.">
                <a:extLst>
                  <a:ext uri="{FF2B5EF4-FFF2-40B4-BE49-F238E27FC236}">
                    <a16:creationId xmlns:a16="http://schemas.microsoft.com/office/drawing/2014/main" id="{A214CD66-7497-E27B-D485-1DA358165E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58708" y="4097076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44" name="TextBox 16">
                <a:extLst>
                  <a:ext uri="{FF2B5EF4-FFF2-40B4-BE49-F238E27FC236}">
                    <a16:creationId xmlns:a16="http://schemas.microsoft.com/office/drawing/2014/main" id="{71C6BB48-AB01-0BD6-C4E3-97E8EDDCEB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19110" y="4544268"/>
                <a:ext cx="1115568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rIns="0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Bastion Instance</a:t>
                </a:r>
              </a:p>
            </p:txBody>
          </p:sp>
        </p:grpSp>
      </p:grpSp>
      <p:grpSp>
        <p:nvGrpSpPr>
          <p:cNvPr id="216" name="グループ化 215">
            <a:extLst>
              <a:ext uri="{FF2B5EF4-FFF2-40B4-BE49-F238E27FC236}">
                <a16:creationId xmlns:a16="http://schemas.microsoft.com/office/drawing/2014/main" id="{D086B19B-9550-07A8-A66E-DD91D6BF2F9B}"/>
              </a:ext>
            </a:extLst>
          </p:cNvPr>
          <p:cNvGrpSpPr/>
          <p:nvPr/>
        </p:nvGrpSpPr>
        <p:grpSpPr>
          <a:xfrm>
            <a:off x="2597945" y="4439013"/>
            <a:ext cx="1286584" cy="1489274"/>
            <a:chOff x="2597945" y="4439013"/>
            <a:chExt cx="1286584" cy="1489274"/>
          </a:xfrm>
        </p:grpSpPr>
        <p:sp>
          <p:nvSpPr>
            <p:cNvPr id="146" name="Rectangle 63" descr="Security group.">
              <a:extLst>
                <a:ext uri="{FF2B5EF4-FFF2-40B4-BE49-F238E27FC236}">
                  <a16:creationId xmlns:a16="http://schemas.microsoft.com/office/drawing/2014/main" id="{239F72E8-E177-CDB2-D2B2-2BA7D0726CA3}"/>
                </a:ext>
              </a:extLst>
            </p:cNvPr>
            <p:cNvSpPr/>
            <p:nvPr/>
          </p:nvSpPr>
          <p:spPr>
            <a:xfrm>
              <a:off x="2597945" y="4439013"/>
              <a:ext cx="1286584" cy="1489274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  <p:grpSp>
          <p:nvGrpSpPr>
            <p:cNvPr id="147" name="グループ化 146">
              <a:extLst>
                <a:ext uri="{FF2B5EF4-FFF2-40B4-BE49-F238E27FC236}">
                  <a16:creationId xmlns:a16="http://schemas.microsoft.com/office/drawing/2014/main" id="{412E9FC2-DAE2-40DC-4AB9-18B039B30B81}"/>
                </a:ext>
              </a:extLst>
            </p:cNvPr>
            <p:cNvGrpSpPr/>
            <p:nvPr/>
          </p:nvGrpSpPr>
          <p:grpSpPr>
            <a:xfrm>
              <a:off x="2683453" y="4805111"/>
              <a:ext cx="1115568" cy="908857"/>
              <a:chOff x="2319110" y="4097076"/>
              <a:chExt cx="1115568" cy="908857"/>
            </a:xfrm>
          </p:grpSpPr>
          <p:pic>
            <p:nvPicPr>
              <p:cNvPr id="148" name="Graphic 46" descr="Instance instance icon for the Amazon EC2 service.">
                <a:extLst>
                  <a:ext uri="{FF2B5EF4-FFF2-40B4-BE49-F238E27FC236}">
                    <a16:creationId xmlns:a16="http://schemas.microsoft.com/office/drawing/2014/main" id="{7DD20F79-0116-C6E3-95EB-FF5DE01A59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58708" y="4097076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49" name="TextBox 16">
                <a:extLst>
                  <a:ext uri="{FF2B5EF4-FFF2-40B4-BE49-F238E27FC236}">
                    <a16:creationId xmlns:a16="http://schemas.microsoft.com/office/drawing/2014/main" id="{0AF14622-1037-E66D-9040-35EC143351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19110" y="4544268"/>
                <a:ext cx="1115568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rIns="0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Mastodon App Instance</a:t>
                </a:r>
              </a:p>
            </p:txBody>
          </p:sp>
        </p:grpSp>
      </p:grpSp>
      <p:grpSp>
        <p:nvGrpSpPr>
          <p:cNvPr id="158" name="グループ化 157">
            <a:extLst>
              <a:ext uri="{FF2B5EF4-FFF2-40B4-BE49-F238E27FC236}">
                <a16:creationId xmlns:a16="http://schemas.microsoft.com/office/drawing/2014/main" id="{19172296-0F55-A852-19AB-FB9BF7C5FC6C}"/>
              </a:ext>
            </a:extLst>
          </p:cNvPr>
          <p:cNvGrpSpPr/>
          <p:nvPr/>
        </p:nvGrpSpPr>
        <p:grpSpPr>
          <a:xfrm>
            <a:off x="8771273" y="1663135"/>
            <a:ext cx="2292350" cy="1038999"/>
            <a:chOff x="7464181" y="519171"/>
            <a:chExt cx="2292350" cy="1038999"/>
          </a:xfrm>
        </p:grpSpPr>
        <p:pic>
          <p:nvPicPr>
            <p:cNvPr id="155" name="Graphic 19" descr="Amazon CloudFront service icon.">
              <a:extLst>
                <a:ext uri="{FF2B5EF4-FFF2-40B4-BE49-F238E27FC236}">
                  <a16:creationId xmlns:a16="http://schemas.microsoft.com/office/drawing/2014/main" id="{9802BD35-C360-7E8A-9038-9F64A752DF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 bwMode="auto">
            <a:xfrm>
              <a:off x="8219831" y="519171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7" name="TextBox 11">
              <a:extLst>
                <a:ext uri="{FF2B5EF4-FFF2-40B4-BE49-F238E27FC236}">
                  <a16:creationId xmlns:a16="http://schemas.microsoft.com/office/drawing/2014/main" id="{A83E809F-CAA6-E35E-97A9-5A572A138E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64181" y="1281171"/>
              <a:ext cx="229235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CloudFront</a:t>
              </a:r>
            </a:p>
          </p:txBody>
        </p:sp>
      </p:grp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80E32233-BFAC-9A4D-BBB7-560A865D8CCE}"/>
              </a:ext>
            </a:extLst>
          </p:cNvPr>
          <p:cNvGrpSpPr/>
          <p:nvPr/>
        </p:nvGrpSpPr>
        <p:grpSpPr>
          <a:xfrm>
            <a:off x="10130547" y="1663135"/>
            <a:ext cx="2279650" cy="1223665"/>
            <a:chOff x="6786563" y="1184275"/>
            <a:chExt cx="2279650" cy="1223665"/>
          </a:xfrm>
        </p:grpSpPr>
        <p:pic>
          <p:nvPicPr>
            <p:cNvPr id="160" name="Graphic 20" descr="AWS Certificate Manager (ACM) service icon.">
              <a:extLst>
                <a:ext uri="{FF2B5EF4-FFF2-40B4-BE49-F238E27FC236}">
                  <a16:creationId xmlns:a16="http://schemas.microsoft.com/office/drawing/2014/main" id="{8E140A96-57EB-79AA-5EF8-85D3827967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 bwMode="auto">
            <a:xfrm>
              <a:off x="7535863" y="1184275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" name="TextBox 12">
              <a:extLst>
                <a:ext uri="{FF2B5EF4-FFF2-40B4-BE49-F238E27FC236}">
                  <a16:creationId xmlns:a16="http://schemas.microsoft.com/office/drawing/2014/main" id="{D8AB8F11-4F38-E8A8-F9DC-827307AFCB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86563" y="1946275"/>
              <a:ext cx="2279650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Certificate</a:t>
              </a:r>
              <a:b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</a:br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Manager (ACM)</a:t>
              </a:r>
            </a:p>
          </p:txBody>
        </p:sp>
      </p:grpSp>
      <p:grpSp>
        <p:nvGrpSpPr>
          <p:cNvPr id="168" name="グループ化 167">
            <a:extLst>
              <a:ext uri="{FF2B5EF4-FFF2-40B4-BE49-F238E27FC236}">
                <a16:creationId xmlns:a16="http://schemas.microsoft.com/office/drawing/2014/main" id="{01C98D9F-D1C7-8425-6E26-0FE84558AEC9}"/>
              </a:ext>
            </a:extLst>
          </p:cNvPr>
          <p:cNvGrpSpPr/>
          <p:nvPr/>
        </p:nvGrpSpPr>
        <p:grpSpPr>
          <a:xfrm>
            <a:off x="10616421" y="3029392"/>
            <a:ext cx="1290638" cy="939794"/>
            <a:chOff x="4842513" y="2811180"/>
            <a:chExt cx="1290638" cy="939794"/>
          </a:xfrm>
        </p:grpSpPr>
        <p:pic>
          <p:nvPicPr>
            <p:cNvPr id="165" name="Graphic 85" descr="Bucket with objects resource icon for the Amazon S3 service.">
              <a:extLst>
                <a:ext uri="{FF2B5EF4-FFF2-40B4-BE49-F238E27FC236}">
                  <a16:creationId xmlns:a16="http://schemas.microsoft.com/office/drawing/2014/main" id="{4DA0C876-CE2C-4FB7-573E-11F6863628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65952" y="2811180"/>
              <a:ext cx="457200" cy="457200"/>
            </a:xfrm>
            <a:prstGeom prst="rect">
              <a:avLst/>
            </a:prstGeom>
          </p:spPr>
        </p:pic>
        <p:sp>
          <p:nvSpPr>
            <p:cNvPr id="167" name="TextBox 20">
              <a:extLst>
                <a:ext uri="{FF2B5EF4-FFF2-40B4-BE49-F238E27FC236}">
                  <a16:creationId xmlns:a16="http://schemas.microsoft.com/office/drawing/2014/main" id="{ECDF6BCD-72B6-3CA4-A060-1EACBA6EC3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2513" y="3289309"/>
              <a:ext cx="129063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Backyard Bucket</a:t>
              </a:r>
            </a:p>
          </p:txBody>
        </p:sp>
      </p:grpSp>
      <p:grpSp>
        <p:nvGrpSpPr>
          <p:cNvPr id="169" name="グループ化 168">
            <a:extLst>
              <a:ext uri="{FF2B5EF4-FFF2-40B4-BE49-F238E27FC236}">
                <a16:creationId xmlns:a16="http://schemas.microsoft.com/office/drawing/2014/main" id="{46A6DE68-55E7-3AC1-FB9A-02F6FE7E6D24}"/>
              </a:ext>
            </a:extLst>
          </p:cNvPr>
          <p:cNvGrpSpPr/>
          <p:nvPr/>
        </p:nvGrpSpPr>
        <p:grpSpPr>
          <a:xfrm>
            <a:off x="10616421" y="3964731"/>
            <a:ext cx="1290638" cy="755128"/>
            <a:chOff x="4842513" y="2811180"/>
            <a:chExt cx="1290638" cy="755128"/>
          </a:xfrm>
        </p:grpSpPr>
        <p:pic>
          <p:nvPicPr>
            <p:cNvPr id="170" name="Graphic 85" descr="Bucket with objects resource icon for the Amazon S3 service.">
              <a:extLst>
                <a:ext uri="{FF2B5EF4-FFF2-40B4-BE49-F238E27FC236}">
                  <a16:creationId xmlns:a16="http://schemas.microsoft.com/office/drawing/2014/main" id="{0F30292D-D87C-6451-AB31-2220BA3417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65952" y="2811180"/>
              <a:ext cx="457200" cy="457200"/>
            </a:xfrm>
            <a:prstGeom prst="rect">
              <a:avLst/>
            </a:prstGeom>
          </p:spPr>
        </p:pic>
        <p:sp>
          <p:nvSpPr>
            <p:cNvPr id="171" name="TextBox 20">
              <a:extLst>
                <a:ext uri="{FF2B5EF4-FFF2-40B4-BE49-F238E27FC236}">
                  <a16:creationId xmlns:a16="http://schemas.microsoft.com/office/drawing/2014/main" id="{81B87C65-124A-2848-23A6-A33965E341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2513" y="3289309"/>
              <a:ext cx="129063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Log Bucket</a:t>
              </a:r>
            </a:p>
          </p:txBody>
        </p:sp>
      </p:grpSp>
      <p:grpSp>
        <p:nvGrpSpPr>
          <p:cNvPr id="172" name="グループ化 171">
            <a:extLst>
              <a:ext uri="{FF2B5EF4-FFF2-40B4-BE49-F238E27FC236}">
                <a16:creationId xmlns:a16="http://schemas.microsoft.com/office/drawing/2014/main" id="{076789FB-F56F-836D-D23F-F5C46157D9A3}"/>
              </a:ext>
            </a:extLst>
          </p:cNvPr>
          <p:cNvGrpSpPr/>
          <p:nvPr/>
        </p:nvGrpSpPr>
        <p:grpSpPr>
          <a:xfrm>
            <a:off x="10616421" y="4715404"/>
            <a:ext cx="1290638" cy="939794"/>
            <a:chOff x="4842513" y="2811180"/>
            <a:chExt cx="1290638" cy="939794"/>
          </a:xfrm>
        </p:grpSpPr>
        <p:pic>
          <p:nvPicPr>
            <p:cNvPr id="173" name="Graphic 85" descr="Bucket with objects resource icon for the Amazon S3 service.">
              <a:extLst>
                <a:ext uri="{FF2B5EF4-FFF2-40B4-BE49-F238E27FC236}">
                  <a16:creationId xmlns:a16="http://schemas.microsoft.com/office/drawing/2014/main" id="{5A0FE46A-2B2E-D7A7-3ADE-4878B9A523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65952" y="2811180"/>
              <a:ext cx="457200" cy="457200"/>
            </a:xfrm>
            <a:prstGeom prst="rect">
              <a:avLst/>
            </a:prstGeom>
          </p:spPr>
        </p:pic>
        <p:sp>
          <p:nvSpPr>
            <p:cNvPr id="174" name="TextBox 20">
              <a:extLst>
                <a:ext uri="{FF2B5EF4-FFF2-40B4-BE49-F238E27FC236}">
                  <a16:creationId xmlns:a16="http://schemas.microsoft.com/office/drawing/2014/main" id="{FE46EF31-08C1-EBAF-B543-A3D290B049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2513" y="3289309"/>
              <a:ext cx="129063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Contents Bucket</a:t>
              </a:r>
            </a:p>
          </p:txBody>
        </p:sp>
      </p:grpSp>
      <p:grpSp>
        <p:nvGrpSpPr>
          <p:cNvPr id="215" name="グループ化 214">
            <a:extLst>
              <a:ext uri="{FF2B5EF4-FFF2-40B4-BE49-F238E27FC236}">
                <a16:creationId xmlns:a16="http://schemas.microsoft.com/office/drawing/2014/main" id="{2E36D174-3365-5B7B-E351-31EBEF4FDBAD}"/>
              </a:ext>
            </a:extLst>
          </p:cNvPr>
          <p:cNvGrpSpPr/>
          <p:nvPr/>
        </p:nvGrpSpPr>
        <p:grpSpPr>
          <a:xfrm>
            <a:off x="3968375" y="4439013"/>
            <a:ext cx="1286584" cy="1489274"/>
            <a:chOff x="3968375" y="4439013"/>
            <a:chExt cx="1286584" cy="1489274"/>
          </a:xfrm>
        </p:grpSpPr>
        <p:sp>
          <p:nvSpPr>
            <p:cNvPr id="151" name="Rectangle 63" descr="Security group.">
              <a:extLst>
                <a:ext uri="{FF2B5EF4-FFF2-40B4-BE49-F238E27FC236}">
                  <a16:creationId xmlns:a16="http://schemas.microsoft.com/office/drawing/2014/main" id="{4F034C61-0150-9EED-8513-BD080FD6EDC1}"/>
                </a:ext>
              </a:extLst>
            </p:cNvPr>
            <p:cNvSpPr/>
            <p:nvPr/>
          </p:nvSpPr>
          <p:spPr>
            <a:xfrm>
              <a:off x="3968375" y="4439013"/>
              <a:ext cx="1286584" cy="1489274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  <p:grpSp>
          <p:nvGrpSpPr>
            <p:cNvPr id="212" name="グループ化 211">
              <a:extLst>
                <a:ext uri="{FF2B5EF4-FFF2-40B4-BE49-F238E27FC236}">
                  <a16:creationId xmlns:a16="http://schemas.microsoft.com/office/drawing/2014/main" id="{D0397D3B-07B7-0D28-6113-CBEEDE426990}"/>
                </a:ext>
              </a:extLst>
            </p:cNvPr>
            <p:cNvGrpSpPr/>
            <p:nvPr/>
          </p:nvGrpSpPr>
          <p:grpSpPr>
            <a:xfrm>
              <a:off x="3968375" y="4809869"/>
              <a:ext cx="1286584" cy="926765"/>
              <a:chOff x="3968373" y="4809869"/>
              <a:chExt cx="1286584" cy="926765"/>
            </a:xfrm>
          </p:grpSpPr>
          <p:pic>
            <p:nvPicPr>
              <p:cNvPr id="176" name="Graphic 47" descr="PostgreSQL instance instance icon for the Database category.">
                <a:extLst>
                  <a:ext uri="{FF2B5EF4-FFF2-40B4-BE49-F238E27FC236}">
                    <a16:creationId xmlns:a16="http://schemas.microsoft.com/office/drawing/2014/main" id="{5FCE34D7-6A94-D3C0-0A24-95B7D6E7A7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4392254" y="4809869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78" name="TextBox 11">
                <a:extLst>
                  <a:ext uri="{FF2B5EF4-FFF2-40B4-BE49-F238E27FC236}">
                    <a16:creationId xmlns:a16="http://schemas.microsoft.com/office/drawing/2014/main" id="{EB62C0CA-C7E2-F78A-769B-0C01668C24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68373" y="5274969"/>
                <a:ext cx="1286584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PostgreSQL </a:t>
                </a:r>
                <a:b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</a:br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instance</a:t>
                </a:r>
              </a:p>
            </p:txBody>
          </p:sp>
        </p:grpSp>
      </p:grpSp>
      <p:grpSp>
        <p:nvGrpSpPr>
          <p:cNvPr id="214" name="グループ化 213">
            <a:extLst>
              <a:ext uri="{FF2B5EF4-FFF2-40B4-BE49-F238E27FC236}">
                <a16:creationId xmlns:a16="http://schemas.microsoft.com/office/drawing/2014/main" id="{BCA680B0-1394-37BB-A614-9DD1E11CEEA2}"/>
              </a:ext>
            </a:extLst>
          </p:cNvPr>
          <p:cNvGrpSpPr/>
          <p:nvPr/>
        </p:nvGrpSpPr>
        <p:grpSpPr>
          <a:xfrm>
            <a:off x="5338804" y="4439013"/>
            <a:ext cx="1286584" cy="1489274"/>
            <a:chOff x="5338804" y="4439013"/>
            <a:chExt cx="1286584" cy="1489274"/>
          </a:xfrm>
        </p:grpSpPr>
        <p:sp>
          <p:nvSpPr>
            <p:cNvPr id="183" name="Rectangle 63" descr="Security group.">
              <a:extLst>
                <a:ext uri="{FF2B5EF4-FFF2-40B4-BE49-F238E27FC236}">
                  <a16:creationId xmlns:a16="http://schemas.microsoft.com/office/drawing/2014/main" id="{9AD3E1C0-C381-ABDE-7190-68DACFEFDE78}"/>
                </a:ext>
              </a:extLst>
            </p:cNvPr>
            <p:cNvSpPr/>
            <p:nvPr/>
          </p:nvSpPr>
          <p:spPr>
            <a:xfrm>
              <a:off x="5338804" y="4439013"/>
              <a:ext cx="1286584" cy="1489274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  <p:grpSp>
          <p:nvGrpSpPr>
            <p:cNvPr id="191" name="グループ化 190">
              <a:extLst>
                <a:ext uri="{FF2B5EF4-FFF2-40B4-BE49-F238E27FC236}">
                  <a16:creationId xmlns:a16="http://schemas.microsoft.com/office/drawing/2014/main" id="{74BF7E15-7386-50B4-FB2F-C4C2A7C9BA6C}"/>
                </a:ext>
              </a:extLst>
            </p:cNvPr>
            <p:cNvGrpSpPr/>
            <p:nvPr/>
          </p:nvGrpSpPr>
          <p:grpSpPr>
            <a:xfrm>
              <a:off x="5381513" y="4821052"/>
              <a:ext cx="1201167" cy="914791"/>
              <a:chOff x="5184506" y="2806012"/>
              <a:chExt cx="1201167" cy="914791"/>
            </a:xfrm>
          </p:grpSpPr>
          <p:pic>
            <p:nvPicPr>
              <p:cNvPr id="188" name="Graphic 21" descr="ElastiCache for Valkey resource icon for the Amazon ElastiCache service.">
                <a:extLst>
                  <a:ext uri="{FF2B5EF4-FFF2-40B4-BE49-F238E27FC236}">
                    <a16:creationId xmlns:a16="http://schemas.microsoft.com/office/drawing/2014/main" id="{47D87875-D31B-13F4-90FA-BF1E6C10B9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stretch/>
            </p:blipFill>
            <p:spPr>
              <a:xfrm>
                <a:off x="5561222" y="2806012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90" name="TextBox 20">
                <a:extLst>
                  <a:ext uri="{FF2B5EF4-FFF2-40B4-BE49-F238E27FC236}">
                    <a16:creationId xmlns:a16="http://schemas.microsoft.com/office/drawing/2014/main" id="{3A77F455-5176-77F1-8529-4E6BE30242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84506" y="3259138"/>
                <a:ext cx="1201167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2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ElastiCache for Valkey</a:t>
                </a:r>
              </a:p>
            </p:txBody>
          </p:sp>
        </p:grpSp>
      </p:grpSp>
      <p:grpSp>
        <p:nvGrpSpPr>
          <p:cNvPr id="199" name="グループ化 198">
            <a:extLst>
              <a:ext uri="{FF2B5EF4-FFF2-40B4-BE49-F238E27FC236}">
                <a16:creationId xmlns:a16="http://schemas.microsoft.com/office/drawing/2014/main" id="{A62EA622-67B1-6D63-00EE-FF2628109087}"/>
              </a:ext>
            </a:extLst>
          </p:cNvPr>
          <p:cNvGrpSpPr/>
          <p:nvPr/>
        </p:nvGrpSpPr>
        <p:grpSpPr>
          <a:xfrm>
            <a:off x="8777623" y="2728609"/>
            <a:ext cx="2279650" cy="1040586"/>
            <a:chOff x="6786563" y="1182688"/>
            <a:chExt cx="2279650" cy="1040586"/>
          </a:xfrm>
        </p:grpSpPr>
        <p:pic>
          <p:nvPicPr>
            <p:cNvPr id="196" name="Graphic 21" descr="Amazon Route 53 service icon.">
              <a:extLst>
                <a:ext uri="{FF2B5EF4-FFF2-40B4-BE49-F238E27FC236}">
                  <a16:creationId xmlns:a16="http://schemas.microsoft.com/office/drawing/2014/main" id="{A76628C3-4655-21D4-24D6-AC4DAAA6DC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 bwMode="auto">
            <a:xfrm>
              <a:off x="7534275" y="1182688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8" name="TextBox 12">
              <a:extLst>
                <a:ext uri="{FF2B5EF4-FFF2-40B4-BE49-F238E27FC236}">
                  <a16:creationId xmlns:a16="http://schemas.microsoft.com/office/drawing/2014/main" id="{AC332DB3-FA01-F41C-D482-49637AF6E8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86563" y="1946275"/>
              <a:ext cx="227965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Route 53</a:t>
              </a:r>
            </a:p>
          </p:txBody>
        </p:sp>
      </p:grpSp>
      <p:grpSp>
        <p:nvGrpSpPr>
          <p:cNvPr id="211" name="グループ化 210">
            <a:extLst>
              <a:ext uri="{FF2B5EF4-FFF2-40B4-BE49-F238E27FC236}">
                <a16:creationId xmlns:a16="http://schemas.microsoft.com/office/drawing/2014/main" id="{47B9C41D-6AD2-9856-2BA4-89BDDBF707D5}"/>
              </a:ext>
            </a:extLst>
          </p:cNvPr>
          <p:cNvGrpSpPr/>
          <p:nvPr/>
        </p:nvGrpSpPr>
        <p:grpSpPr>
          <a:xfrm>
            <a:off x="6709233" y="4439013"/>
            <a:ext cx="1324060" cy="1535547"/>
            <a:chOff x="6709233" y="4439013"/>
            <a:chExt cx="1324060" cy="1535547"/>
          </a:xfrm>
        </p:grpSpPr>
        <p:sp>
          <p:nvSpPr>
            <p:cNvPr id="203" name="Rectangle 63" descr="Security group.">
              <a:extLst>
                <a:ext uri="{FF2B5EF4-FFF2-40B4-BE49-F238E27FC236}">
                  <a16:creationId xmlns:a16="http://schemas.microsoft.com/office/drawing/2014/main" id="{43927B0E-AA5A-B96D-E4B1-A9A40F379BBE}"/>
                </a:ext>
              </a:extLst>
            </p:cNvPr>
            <p:cNvSpPr/>
            <p:nvPr/>
          </p:nvSpPr>
          <p:spPr>
            <a:xfrm>
              <a:off x="6727971" y="4439013"/>
              <a:ext cx="1286584" cy="1489274"/>
            </a:xfrm>
            <a:prstGeom prst="rect">
              <a:avLst/>
            </a:prstGeom>
            <a:noFill/>
            <a:ln w="15875">
              <a:solidFill>
                <a:srgbClr val="DD344C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anchorCtr="1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Security group</a:t>
              </a:r>
            </a:p>
          </p:txBody>
        </p:sp>
        <p:pic>
          <p:nvPicPr>
            <p:cNvPr id="208" name="Graphic 14" descr="Amazon OpenSearch Service service icon.">
              <a:extLst>
                <a:ext uri="{FF2B5EF4-FFF2-40B4-BE49-F238E27FC236}">
                  <a16:creationId xmlns:a16="http://schemas.microsoft.com/office/drawing/2014/main" id="{0B3E8AAE-59D0-AA12-DFD1-8510F53D76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 bwMode="auto">
            <a:xfrm>
              <a:off x="7087463" y="4771855"/>
              <a:ext cx="567600" cy="567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0" name="TextBox 10">
              <a:extLst>
                <a:ext uri="{FF2B5EF4-FFF2-40B4-BE49-F238E27FC236}">
                  <a16:creationId xmlns:a16="http://schemas.microsoft.com/office/drawing/2014/main" id="{46DC4F34-09CA-98A3-1FF1-F4498F5765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09233" y="5328229"/>
              <a:ext cx="1324060" cy="646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OpenSearch Service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1905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69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構成図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物理構成図</dc:title>
  <dc:creator>酒井隆雄</dc:creator>
  <cp:lastModifiedBy>町瀬 十</cp:lastModifiedBy>
  <cp:revision>44</cp:revision>
  <dcterms:created xsi:type="dcterms:W3CDTF">2017-05-02T02:16:58Z</dcterms:created>
  <dcterms:modified xsi:type="dcterms:W3CDTF">2026-08-11T07:00:18Z</dcterms:modified>
</cp:coreProperties>
</file>